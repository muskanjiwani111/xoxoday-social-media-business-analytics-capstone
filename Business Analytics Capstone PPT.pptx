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Lst>
  <p:notesMasterIdLst>
    <p:notesMasterId r:id="rId14"/>
  </p:notesMasterIdLst>
  <p:sldIdLst>
    <p:sldId id="256" r:id="rId2"/>
    <p:sldId id="283" r:id="rId3"/>
    <p:sldId id="285" r:id="rId4"/>
    <p:sldId id="286" r:id="rId5"/>
    <p:sldId id="287" r:id="rId6"/>
    <p:sldId id="278" r:id="rId7"/>
    <p:sldId id="279" r:id="rId8"/>
    <p:sldId id="289" r:id="rId9"/>
    <p:sldId id="273" r:id="rId10"/>
    <p:sldId id="272" r:id="rId11"/>
    <p:sldId id="275" r:id="rId12"/>
    <p:sldId id="263"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58" d="100"/>
          <a:sy n="58" d="100"/>
        </p:scale>
        <p:origin x="988"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C65AAB-FC66-4BDE-BE56-DDFFA0B2135B}" type="datetimeFigureOut">
              <a:rPr lang="en-US" smtClean="0"/>
              <a:t>12/4/2025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E60794-3FD3-4C19-860A-CD58EB1B9E49}" type="slidenum">
              <a:rPr lang="en-US" smtClean="0"/>
              <a:t>‹#›</a:t>
            </a:fld>
            <a:endParaRPr lang="en-US"/>
          </a:p>
        </p:txBody>
      </p:sp>
    </p:spTree>
    <p:extLst>
      <p:ext uri="{BB962C8B-B14F-4D97-AF65-F5344CB8AC3E}">
        <p14:creationId xmlns:p14="http://schemas.microsoft.com/office/powerpoint/2010/main" val="30422310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2A9536-84E8-C98D-AA86-383E0A506D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A93D8B-4589-1A7E-622D-9CD543EF0E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F55308-334A-0A45-92FB-6E8FC924A9A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8F5A7DC-14E8-CB2F-5994-479FA00533A9}"/>
              </a:ext>
            </a:extLst>
          </p:cNvPr>
          <p:cNvSpPr>
            <a:spLocks noGrp="1"/>
          </p:cNvSpPr>
          <p:nvPr>
            <p:ph type="sldNum" sz="quarter" idx="5"/>
          </p:nvPr>
        </p:nvSpPr>
        <p:spPr/>
        <p:txBody>
          <a:bodyPr/>
          <a:lstStyle/>
          <a:p>
            <a:fld id="{1FE60794-3FD3-4C19-860A-CD58EB1B9E49}" type="slidenum">
              <a:rPr lang="en-US" smtClean="0"/>
              <a:t>9</a:t>
            </a:fld>
            <a:endParaRPr lang="en-US"/>
          </a:p>
        </p:txBody>
      </p:sp>
    </p:spTree>
    <p:extLst>
      <p:ext uri="{BB962C8B-B14F-4D97-AF65-F5344CB8AC3E}">
        <p14:creationId xmlns:p14="http://schemas.microsoft.com/office/powerpoint/2010/main" val="3128005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93D85-7A3E-E4BD-B8F5-77D5FD7145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63D7E7-8030-8002-DA7A-BEA99372D1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762CD6-74EB-C4B9-BF7D-53A7DD5885D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E198433-7D79-5439-7FE2-D17D09052E21}"/>
              </a:ext>
            </a:extLst>
          </p:cNvPr>
          <p:cNvSpPr>
            <a:spLocks noGrp="1"/>
          </p:cNvSpPr>
          <p:nvPr>
            <p:ph type="sldNum" sz="quarter" idx="5"/>
          </p:nvPr>
        </p:nvSpPr>
        <p:spPr/>
        <p:txBody>
          <a:bodyPr/>
          <a:lstStyle/>
          <a:p>
            <a:fld id="{1FE60794-3FD3-4C19-860A-CD58EB1B9E49}" type="slidenum">
              <a:rPr lang="en-US" smtClean="0"/>
              <a:t>10</a:t>
            </a:fld>
            <a:endParaRPr lang="en-US"/>
          </a:p>
        </p:txBody>
      </p:sp>
    </p:spTree>
    <p:extLst>
      <p:ext uri="{BB962C8B-B14F-4D97-AF65-F5344CB8AC3E}">
        <p14:creationId xmlns:p14="http://schemas.microsoft.com/office/powerpoint/2010/main" val="17316225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52313-40E2-4FB3-5881-574553CB7D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43CAD0-3209-22D5-CBF0-B95E498DAB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E4616D-7551-AB4E-64B4-D37CE908C94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FF5B42C-D2CC-0B06-6532-41D17C4DAA2D}"/>
              </a:ext>
            </a:extLst>
          </p:cNvPr>
          <p:cNvSpPr>
            <a:spLocks noGrp="1"/>
          </p:cNvSpPr>
          <p:nvPr>
            <p:ph type="sldNum" sz="quarter" idx="5"/>
          </p:nvPr>
        </p:nvSpPr>
        <p:spPr/>
        <p:txBody>
          <a:bodyPr/>
          <a:lstStyle/>
          <a:p>
            <a:fld id="{1FE60794-3FD3-4C19-860A-CD58EB1B9E49}" type="slidenum">
              <a:rPr lang="en-US" smtClean="0"/>
              <a:t>11</a:t>
            </a:fld>
            <a:endParaRPr lang="en-US"/>
          </a:p>
        </p:txBody>
      </p:sp>
    </p:spTree>
    <p:extLst>
      <p:ext uri="{BB962C8B-B14F-4D97-AF65-F5344CB8AC3E}">
        <p14:creationId xmlns:p14="http://schemas.microsoft.com/office/powerpoint/2010/main" val="41603387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342FE-E00B-4FAF-8F73-F722060EBA12}"/>
              </a:ext>
            </a:extLst>
          </p:cNvPr>
          <p:cNvSpPr>
            <a:spLocks noGrp="1"/>
          </p:cNvSpPr>
          <p:nvPr>
            <p:ph type="ctrTitle"/>
          </p:nvPr>
        </p:nvSpPr>
        <p:spPr>
          <a:xfrm>
            <a:off x="482600" y="978408"/>
            <a:ext cx="10506991" cy="2531555"/>
          </a:xfrm>
          <a:prstGeom prst="rect">
            <a:avLst/>
          </a:prstGeom>
        </p:spPr>
        <p:txBody>
          <a:bodyPr anchor="b"/>
          <a:lstStyle>
            <a:lvl1pPr algn="l">
              <a:defRPr sz="6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7C1CCE2-4461-473E-B23C-34C8CCF04B3A}"/>
              </a:ext>
            </a:extLst>
          </p:cNvPr>
          <p:cNvSpPr>
            <a:spLocks noGrp="1"/>
          </p:cNvSpPr>
          <p:nvPr>
            <p:ph type="subTitle" idx="1"/>
          </p:nvPr>
        </p:nvSpPr>
        <p:spPr>
          <a:xfrm>
            <a:off x="482600" y="3602038"/>
            <a:ext cx="10506991" cy="2277554"/>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0FAA551A-CE2F-4E35-A714-B1F04D4B4E8E}"/>
              </a:ext>
            </a:extLst>
          </p:cNvPr>
          <p:cNvSpPr>
            <a:spLocks noGrp="1"/>
          </p:cNvSpPr>
          <p:nvPr>
            <p:ph type="dt" sz="half" idx="10"/>
          </p:nvPr>
        </p:nvSpPr>
        <p:spPr/>
        <p:txBody>
          <a:bodyPr/>
          <a:lstStyle/>
          <a:p>
            <a:fld id="{81B8F32D-D8B6-4B9E-9CBF-DCAC30B7B93D}" type="datetimeFigureOut">
              <a:rPr lang="en-US" smtClean="0"/>
              <a:t>12/4/2025</a:t>
            </a:fld>
            <a:endParaRPr lang="en-US"/>
          </a:p>
        </p:txBody>
      </p:sp>
      <p:sp>
        <p:nvSpPr>
          <p:cNvPr id="5" name="Footer Placeholder 4">
            <a:extLst>
              <a:ext uri="{FF2B5EF4-FFF2-40B4-BE49-F238E27FC236}">
                <a16:creationId xmlns:a16="http://schemas.microsoft.com/office/drawing/2014/main" id="{26B5C907-6594-4DFF-A32B-449C3BA968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0376D75-E9DA-4660-AC52-51BA63FCB94D}"/>
              </a:ext>
            </a:extLst>
          </p:cNvPr>
          <p:cNvSpPr>
            <a:spLocks noGrp="1"/>
          </p:cNvSpPr>
          <p:nvPr>
            <p:ph type="sldNum" sz="quarter" idx="12"/>
          </p:nvPr>
        </p:nvSpPr>
        <p:spPr/>
        <p:txBody>
          <a:bodyPr/>
          <a:lstStyle/>
          <a:p>
            <a:fld id="{60553ECD-7F6D-420D-93CA-D8D15EB427AC}" type="slidenum">
              <a:rPr lang="en-US" smtClean="0"/>
              <a:t>‹#›</a:t>
            </a:fld>
            <a:endParaRPr lang="en-US"/>
          </a:p>
        </p:txBody>
      </p:sp>
      <p:cxnSp>
        <p:nvCxnSpPr>
          <p:cNvPr id="10" name="Straight Connector 9">
            <a:extLst>
              <a:ext uri="{FF2B5EF4-FFF2-40B4-BE49-F238E27FC236}">
                <a16:creationId xmlns:a16="http://schemas.microsoft.com/office/drawing/2014/main" id="{A2EFA84C-D756-4DC7-AA46-68D776F37FA4}"/>
              </a:ext>
              <a:ext uri="{C183D7F6-B498-43B3-948B-1728B52AA6E4}">
                <adec:decorative xmlns:adec="http://schemas.microsoft.com/office/drawing/2017/decorative" val="1"/>
              </a:ext>
            </a:extLst>
          </p:cNvPr>
          <p:cNvCxnSpPr>
            <a:cxnSpLocks/>
          </p:cNvCxnSpPr>
          <p:nvPr/>
        </p:nvCxnSpPr>
        <p:spPr>
          <a:xfrm>
            <a:off x="482600" y="489855"/>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3753290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43735-A77F-440D-9448-6AE7C204D377}"/>
              </a:ext>
            </a:extLst>
          </p:cNvPr>
          <p:cNvSpPr>
            <a:spLocks noGrp="1"/>
          </p:cNvSpPr>
          <p:nvPr>
            <p:ph type="title"/>
          </p:nvPr>
        </p:nvSpPr>
        <p:spPr>
          <a:xfrm>
            <a:off x="482600" y="978408"/>
            <a:ext cx="10634472" cy="2157984"/>
          </a:xfrm>
          <a:prstGeom prst="rect">
            <a:avLst/>
          </a:prstGeo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276C6EE-D55E-454B-B28C-EC73D1DB4A2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2A2905-6D2E-4319-9521-61452AB8F996}"/>
              </a:ext>
            </a:extLst>
          </p:cNvPr>
          <p:cNvSpPr>
            <a:spLocks noGrp="1"/>
          </p:cNvSpPr>
          <p:nvPr>
            <p:ph type="dt" sz="half" idx="10"/>
          </p:nvPr>
        </p:nvSpPr>
        <p:spPr/>
        <p:txBody>
          <a:bodyPr/>
          <a:lstStyle/>
          <a:p>
            <a:fld id="{81B8F32D-D8B6-4B9E-9CBF-DCAC30B7B93D}" type="datetimeFigureOut">
              <a:rPr lang="en-US" smtClean="0"/>
              <a:t>12/4/2025</a:t>
            </a:fld>
            <a:endParaRPr lang="en-US"/>
          </a:p>
        </p:txBody>
      </p:sp>
      <p:sp>
        <p:nvSpPr>
          <p:cNvPr id="5" name="Footer Placeholder 4">
            <a:extLst>
              <a:ext uri="{FF2B5EF4-FFF2-40B4-BE49-F238E27FC236}">
                <a16:creationId xmlns:a16="http://schemas.microsoft.com/office/drawing/2014/main" id="{6DAC7550-84E8-49D3-B419-6F5F327DAD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AD2C6B-EA5D-4D97-BC84-6C860D536360}"/>
              </a:ext>
            </a:extLst>
          </p:cNvPr>
          <p:cNvSpPr>
            <a:spLocks noGrp="1"/>
          </p:cNvSpPr>
          <p:nvPr>
            <p:ph type="sldNum" sz="quarter" idx="12"/>
          </p:nvPr>
        </p:nvSpPr>
        <p:spPr/>
        <p:txBody>
          <a:bodyPr/>
          <a:lstStyle/>
          <a:p>
            <a:fld id="{60553ECD-7F6D-420D-93CA-D8D15EB427AC}" type="slidenum">
              <a:rPr lang="en-US" smtClean="0"/>
              <a:t>‹#›</a:t>
            </a:fld>
            <a:endParaRPr lang="en-US"/>
          </a:p>
        </p:txBody>
      </p:sp>
    </p:spTree>
    <p:extLst>
      <p:ext uri="{BB962C8B-B14F-4D97-AF65-F5344CB8AC3E}">
        <p14:creationId xmlns:p14="http://schemas.microsoft.com/office/powerpoint/2010/main" val="41477181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61B299E6-11CC-4181-86C3-528A13F1F556}"/>
              </a:ext>
              <a:ext uri="{C183D7F6-B498-43B3-948B-1728B52AA6E4}">
                <adec:decorative xmlns:adec="http://schemas.microsoft.com/office/drawing/2017/decorative" val="1"/>
              </a:ext>
            </a:extLst>
          </p:cNvPr>
          <p:cNvSpPr/>
          <p:nvPr/>
        </p:nvSpPr>
        <p:spPr>
          <a:xfrm>
            <a:off x="481007" y="3922232"/>
            <a:ext cx="11147071" cy="2434825"/>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E803473-0A64-4F9F-833B-8D64E39019B1}"/>
              </a:ext>
            </a:extLst>
          </p:cNvPr>
          <p:cNvSpPr>
            <a:spLocks noGrp="1"/>
          </p:cNvSpPr>
          <p:nvPr>
            <p:ph type="title"/>
          </p:nvPr>
        </p:nvSpPr>
        <p:spPr>
          <a:xfrm>
            <a:off x="482600" y="978409"/>
            <a:ext cx="10515600" cy="2716769"/>
          </a:xfrm>
          <a:prstGeom prst="rect">
            <a:avLst/>
          </a:prstGeo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6873736-B424-40F2-B562-6DC10E5EDE4F}"/>
              </a:ext>
            </a:extLst>
          </p:cNvPr>
          <p:cNvSpPr>
            <a:spLocks noGrp="1"/>
          </p:cNvSpPr>
          <p:nvPr>
            <p:ph type="body" idx="1"/>
          </p:nvPr>
        </p:nvSpPr>
        <p:spPr>
          <a:xfrm>
            <a:off x="482600" y="4171445"/>
            <a:ext cx="10515600" cy="1918205"/>
          </a:xfrm>
        </p:spPr>
        <p:txBody>
          <a:bodyPr>
            <a:normAutofit/>
          </a:bodyPr>
          <a:lstStyle>
            <a:lvl1pPr marL="0" indent="0">
              <a:buNone/>
              <a:defRPr lang="en-US" sz="2400" i="1" kern="1200" dirty="0" smtClean="0">
                <a:solidFill>
                  <a:schemeClr val="tx1"/>
                </a:solidFill>
                <a:latin typeface="+mn-lt"/>
                <a:ea typeface="+mn-ea"/>
                <a:cs typeface="+mn-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914400" rtl="0" eaLnBrk="1" latinLnBrk="0" hangingPunct="1">
              <a:lnSpc>
                <a:spcPct val="110000"/>
              </a:lnSpc>
              <a:spcBef>
                <a:spcPts val="1000"/>
              </a:spcBef>
              <a:buFont typeface="Arial" panose="020B0604020202020204" pitchFamily="34" charset="0"/>
              <a:buNone/>
            </a:pPr>
            <a:r>
              <a:rPr lang="en-US"/>
              <a:t>Click to edit Master text styles</a:t>
            </a:r>
          </a:p>
        </p:txBody>
      </p:sp>
      <p:sp>
        <p:nvSpPr>
          <p:cNvPr id="4" name="Date Placeholder 3">
            <a:extLst>
              <a:ext uri="{FF2B5EF4-FFF2-40B4-BE49-F238E27FC236}">
                <a16:creationId xmlns:a16="http://schemas.microsoft.com/office/drawing/2014/main" id="{74348851-37C0-478D-B722-D76C817DC49D}"/>
              </a:ext>
            </a:extLst>
          </p:cNvPr>
          <p:cNvSpPr>
            <a:spLocks noGrp="1"/>
          </p:cNvSpPr>
          <p:nvPr>
            <p:ph type="dt" sz="half" idx="10"/>
          </p:nvPr>
        </p:nvSpPr>
        <p:spPr/>
        <p:txBody>
          <a:bodyPr/>
          <a:lstStyle/>
          <a:p>
            <a:fld id="{81B8F32D-D8B6-4B9E-9CBF-DCAC30B7B93D}" type="datetimeFigureOut">
              <a:rPr lang="en-US" smtClean="0"/>
              <a:t>12/4/2025</a:t>
            </a:fld>
            <a:endParaRPr lang="en-US"/>
          </a:p>
        </p:txBody>
      </p:sp>
      <p:sp>
        <p:nvSpPr>
          <p:cNvPr id="5" name="Footer Placeholder 4">
            <a:extLst>
              <a:ext uri="{FF2B5EF4-FFF2-40B4-BE49-F238E27FC236}">
                <a16:creationId xmlns:a16="http://schemas.microsoft.com/office/drawing/2014/main" id="{263E063E-66CE-4C18-91FA-D14AE052D7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A66D3D-FD62-470C-BC3C-A03771A32F60}"/>
              </a:ext>
            </a:extLst>
          </p:cNvPr>
          <p:cNvSpPr>
            <a:spLocks noGrp="1"/>
          </p:cNvSpPr>
          <p:nvPr>
            <p:ph type="sldNum" sz="quarter" idx="12"/>
          </p:nvPr>
        </p:nvSpPr>
        <p:spPr/>
        <p:txBody>
          <a:bodyPr/>
          <a:lstStyle/>
          <a:p>
            <a:fld id="{60553ECD-7F6D-420D-93CA-D8D15EB427AC}" type="slidenum">
              <a:rPr lang="en-US" smtClean="0"/>
              <a:t>‹#›</a:t>
            </a:fld>
            <a:endParaRPr lang="en-US"/>
          </a:p>
        </p:txBody>
      </p:sp>
      <p:cxnSp>
        <p:nvCxnSpPr>
          <p:cNvPr id="11" name="Straight Connector 10">
            <a:extLst>
              <a:ext uri="{FF2B5EF4-FFF2-40B4-BE49-F238E27FC236}">
                <a16:creationId xmlns:a16="http://schemas.microsoft.com/office/drawing/2014/main" id="{DDFF0049-0231-4557-A707-569556F0CA83}"/>
              </a:ext>
              <a:ext uri="{C183D7F6-B498-43B3-948B-1728B52AA6E4}">
                <adec:decorative xmlns:adec="http://schemas.microsoft.com/office/drawing/2017/decorative" val="1"/>
              </a:ext>
            </a:extLst>
          </p:cNvPr>
          <p:cNvCxnSpPr>
            <a:cxnSpLocks/>
          </p:cNvCxnSpPr>
          <p:nvPr/>
        </p:nvCxnSpPr>
        <p:spPr>
          <a:xfrm>
            <a:off x="481007" y="3922232"/>
            <a:ext cx="11147071"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457A0DB1-87C8-4BF4-B2A2-F9CA6ED05AC4}"/>
              </a:ext>
              <a:ext uri="{C183D7F6-B498-43B3-948B-1728B52AA6E4}">
                <adec:decorative xmlns:adec="http://schemas.microsoft.com/office/drawing/2017/decorative" val="1"/>
              </a:ext>
            </a:extLst>
          </p:cNvPr>
          <p:cNvCxnSpPr>
            <a:cxnSpLocks/>
          </p:cNvCxnSpPr>
          <p:nvPr/>
        </p:nvCxnSpPr>
        <p:spPr>
          <a:xfrm>
            <a:off x="482600" y="6368138"/>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F6C29209-8A8F-48A7-8BA2-AFADA37CBD4F}"/>
              </a:ext>
              <a:ext uri="{C183D7F6-B498-43B3-948B-1728B52AA6E4}">
                <adec:decorative xmlns:adec="http://schemas.microsoft.com/office/drawing/2017/decorative" val="1"/>
              </a:ext>
            </a:extLst>
          </p:cNvPr>
          <p:cNvCxnSpPr>
            <a:cxnSpLocks/>
          </p:cNvCxnSpPr>
          <p:nvPr/>
        </p:nvCxnSpPr>
        <p:spPr>
          <a:xfrm>
            <a:off x="481007" y="6368138"/>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4654970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166BE9C-AE7C-4C39-9694-C32D6939B965}"/>
              </a:ext>
              <a:ext uri="{C183D7F6-B498-43B3-948B-1728B52AA6E4}">
                <adec:decorative xmlns:adec="http://schemas.microsoft.com/office/drawing/2017/decorative" val="1"/>
              </a:ext>
            </a:extLst>
          </p:cNvPr>
          <p:cNvSpPr/>
          <p:nvPr/>
        </p:nvSpPr>
        <p:spPr>
          <a:xfrm>
            <a:off x="481007" y="483577"/>
            <a:ext cx="11147071" cy="2434824"/>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8ACC42C-303A-4BDF-990A-2B07967BC9A9}"/>
              </a:ext>
            </a:extLst>
          </p:cNvPr>
          <p:cNvSpPr>
            <a:spLocks noGrp="1"/>
          </p:cNvSpPr>
          <p:nvPr>
            <p:ph type="title"/>
          </p:nvPr>
        </p:nvSpPr>
        <p:spPr>
          <a:xfrm>
            <a:off x="482599" y="978408"/>
            <a:ext cx="11147071" cy="1755263"/>
          </a:xfrm>
          <a:prstGeom prst="rect">
            <a:avLst/>
          </a:prstGeo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0C55CEF-353E-4E14-83AD-ACADDC08D943}"/>
              </a:ext>
            </a:extLst>
          </p:cNvPr>
          <p:cNvSpPr>
            <a:spLocks noGrp="1"/>
          </p:cNvSpPr>
          <p:nvPr>
            <p:ph sz="half" idx="1"/>
          </p:nvPr>
        </p:nvSpPr>
        <p:spPr>
          <a:xfrm>
            <a:off x="482600" y="3103131"/>
            <a:ext cx="5418551" cy="30738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2E55ECEF-9654-4AC1-BF77-7BC602BBD434}"/>
              </a:ext>
            </a:extLst>
          </p:cNvPr>
          <p:cNvSpPr>
            <a:spLocks noGrp="1"/>
          </p:cNvSpPr>
          <p:nvPr>
            <p:ph sz="half" idx="2"/>
          </p:nvPr>
        </p:nvSpPr>
        <p:spPr>
          <a:xfrm>
            <a:off x="6211120" y="3103131"/>
            <a:ext cx="5418551" cy="30738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64922FC8-BC06-407B-A82B-DA62B33A1CD4}"/>
              </a:ext>
            </a:extLst>
          </p:cNvPr>
          <p:cNvSpPr>
            <a:spLocks noGrp="1"/>
          </p:cNvSpPr>
          <p:nvPr>
            <p:ph type="dt" sz="half" idx="10"/>
          </p:nvPr>
        </p:nvSpPr>
        <p:spPr/>
        <p:txBody>
          <a:bodyPr/>
          <a:lstStyle/>
          <a:p>
            <a:fld id="{81B8F32D-D8B6-4B9E-9CBF-DCAC30B7B93D}" type="datetimeFigureOut">
              <a:rPr lang="en-US" smtClean="0"/>
              <a:t>12/4/2025</a:t>
            </a:fld>
            <a:endParaRPr lang="en-US"/>
          </a:p>
        </p:txBody>
      </p:sp>
      <p:sp>
        <p:nvSpPr>
          <p:cNvPr id="6" name="Footer Placeholder 5">
            <a:extLst>
              <a:ext uri="{FF2B5EF4-FFF2-40B4-BE49-F238E27FC236}">
                <a16:creationId xmlns:a16="http://schemas.microsoft.com/office/drawing/2014/main" id="{7915B701-4E1F-48AA-8A3C-ED5DD9151E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6BCA31-8AC7-46F5-BCAB-41D54DF83D78}"/>
              </a:ext>
            </a:extLst>
          </p:cNvPr>
          <p:cNvSpPr>
            <a:spLocks noGrp="1"/>
          </p:cNvSpPr>
          <p:nvPr>
            <p:ph type="sldNum" sz="quarter" idx="12"/>
          </p:nvPr>
        </p:nvSpPr>
        <p:spPr/>
        <p:txBody>
          <a:bodyPr/>
          <a:lstStyle/>
          <a:p>
            <a:fld id="{60553ECD-7F6D-420D-93CA-D8D15EB427AC}" type="slidenum">
              <a:rPr lang="en-US" smtClean="0"/>
              <a:t>‹#›</a:t>
            </a:fld>
            <a:endParaRPr lang="en-US"/>
          </a:p>
        </p:txBody>
      </p:sp>
      <p:cxnSp>
        <p:nvCxnSpPr>
          <p:cNvPr id="9" name="Straight Connector 8">
            <a:extLst>
              <a:ext uri="{FF2B5EF4-FFF2-40B4-BE49-F238E27FC236}">
                <a16:creationId xmlns:a16="http://schemas.microsoft.com/office/drawing/2014/main" id="{21BA86D8-2A29-4A0E-AEA0-39B41C4187DE}"/>
              </a:ext>
              <a:ext uri="{C183D7F6-B498-43B3-948B-1728B52AA6E4}">
                <adec:decorative xmlns:adec="http://schemas.microsoft.com/office/drawing/2017/decorative" val="1"/>
              </a:ext>
            </a:extLst>
          </p:cNvPr>
          <p:cNvCxnSpPr>
            <a:cxnSpLocks/>
          </p:cNvCxnSpPr>
          <p:nvPr/>
        </p:nvCxnSpPr>
        <p:spPr>
          <a:xfrm>
            <a:off x="482600" y="2918401"/>
            <a:ext cx="11147071"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F085E13E-918A-4D04-9E84-94148D7C878E}"/>
              </a:ext>
              <a:ext uri="{C183D7F6-B498-43B3-948B-1728B52AA6E4}">
                <adec:decorative xmlns:adec="http://schemas.microsoft.com/office/drawing/2017/decorative" val="1"/>
              </a:ext>
            </a:extLst>
          </p:cNvPr>
          <p:cNvCxnSpPr>
            <a:cxnSpLocks/>
          </p:cNvCxnSpPr>
          <p:nvPr/>
        </p:nvCxnSpPr>
        <p:spPr>
          <a:xfrm>
            <a:off x="482600" y="489855"/>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8957842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5E892-D975-4DD6-8583-A14DDBE85F0C}"/>
              </a:ext>
            </a:extLst>
          </p:cNvPr>
          <p:cNvSpPr>
            <a:spLocks noGrp="1"/>
          </p:cNvSpPr>
          <p:nvPr>
            <p:ph type="title"/>
          </p:nvPr>
        </p:nvSpPr>
        <p:spPr>
          <a:xfrm>
            <a:off x="484631" y="978407"/>
            <a:ext cx="11145039" cy="1339584"/>
          </a:xfrm>
          <a:prstGeom prst="rect">
            <a:avLst/>
          </a:prstGeom>
        </p:spPr>
        <p:txBody>
          <a:bodyPr anchor="b"/>
          <a:lstStyle/>
          <a:p>
            <a:r>
              <a:rPr lang="en-US"/>
              <a:t>Click to edit Master title style</a:t>
            </a:r>
            <a:endParaRPr lang="en-US" dirty="0"/>
          </a:p>
        </p:txBody>
      </p:sp>
      <p:sp>
        <p:nvSpPr>
          <p:cNvPr id="3" name="Text Placeholder 2">
            <a:extLst>
              <a:ext uri="{FF2B5EF4-FFF2-40B4-BE49-F238E27FC236}">
                <a16:creationId xmlns:a16="http://schemas.microsoft.com/office/drawing/2014/main" id="{7F1F7700-CECC-4881-BE5C-A13CD825B73B}"/>
              </a:ext>
            </a:extLst>
          </p:cNvPr>
          <p:cNvSpPr>
            <a:spLocks noGrp="1"/>
          </p:cNvSpPr>
          <p:nvPr>
            <p:ph type="body" idx="1"/>
          </p:nvPr>
        </p:nvSpPr>
        <p:spPr>
          <a:xfrm>
            <a:off x="484632" y="2500921"/>
            <a:ext cx="5346222" cy="823912"/>
          </a:xfrm>
        </p:spPr>
        <p:txBody>
          <a:bodyPr anchor="b">
            <a:normAutofit/>
          </a:bodyPr>
          <a:lstStyle>
            <a:lvl1pPr marL="0" indent="0">
              <a:buNone/>
              <a:defRPr lang="en-US" sz="2400" b="0" i="1" kern="1200" dirty="0" smtClean="0">
                <a:solidFill>
                  <a:schemeClr val="tx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10000"/>
              </a:lnSpc>
              <a:spcBef>
                <a:spcPts val="1000"/>
              </a:spcBef>
              <a:buFont typeface="Arial" panose="020B0604020202020204" pitchFamily="34" charset="0"/>
              <a:buNone/>
            </a:pPr>
            <a:r>
              <a:rPr lang="en-US"/>
              <a:t>Click to edit Master text styles</a:t>
            </a:r>
          </a:p>
        </p:txBody>
      </p:sp>
      <p:sp>
        <p:nvSpPr>
          <p:cNvPr id="4" name="Content Placeholder 3">
            <a:extLst>
              <a:ext uri="{FF2B5EF4-FFF2-40B4-BE49-F238E27FC236}">
                <a16:creationId xmlns:a16="http://schemas.microsoft.com/office/drawing/2014/main" id="{4CA50766-520A-44C5-943E-569222B74104}"/>
              </a:ext>
            </a:extLst>
          </p:cNvPr>
          <p:cNvSpPr>
            <a:spLocks noGrp="1"/>
          </p:cNvSpPr>
          <p:nvPr>
            <p:ph sz="half" idx="2"/>
          </p:nvPr>
        </p:nvSpPr>
        <p:spPr>
          <a:xfrm>
            <a:off x="484632" y="3428999"/>
            <a:ext cx="5346222" cy="2760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272F7E42-976A-4239-8006-D68538D4B71F}"/>
              </a:ext>
            </a:extLst>
          </p:cNvPr>
          <p:cNvSpPr>
            <a:spLocks noGrp="1"/>
          </p:cNvSpPr>
          <p:nvPr>
            <p:ph type="body" sz="quarter" idx="3"/>
          </p:nvPr>
        </p:nvSpPr>
        <p:spPr>
          <a:xfrm>
            <a:off x="6257120" y="2500921"/>
            <a:ext cx="5372551" cy="823912"/>
          </a:xfrm>
        </p:spPr>
        <p:txBody>
          <a:bodyPr anchor="b"/>
          <a:lstStyle>
            <a:lvl1pPr marL="0" indent="0">
              <a:buNone/>
              <a:defRPr lang="en-US" sz="2400" b="0" i="1" kern="1200" smtClean="0">
                <a:solidFill>
                  <a:schemeClr val="tx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F8CA329-951F-4391-ADC5-7EA320B7782F}"/>
              </a:ext>
            </a:extLst>
          </p:cNvPr>
          <p:cNvSpPr>
            <a:spLocks noGrp="1"/>
          </p:cNvSpPr>
          <p:nvPr>
            <p:ph sz="quarter" idx="4"/>
          </p:nvPr>
        </p:nvSpPr>
        <p:spPr>
          <a:xfrm>
            <a:off x="6257120" y="3428999"/>
            <a:ext cx="5372551" cy="2760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9FBEC22A-DA46-460C-B865-D928C20AE763}"/>
              </a:ext>
            </a:extLst>
          </p:cNvPr>
          <p:cNvSpPr>
            <a:spLocks noGrp="1"/>
          </p:cNvSpPr>
          <p:nvPr>
            <p:ph type="dt" sz="half" idx="10"/>
          </p:nvPr>
        </p:nvSpPr>
        <p:spPr/>
        <p:txBody>
          <a:bodyPr/>
          <a:lstStyle/>
          <a:p>
            <a:fld id="{81B8F32D-D8B6-4B9E-9CBF-DCAC30B7B93D}" type="datetimeFigureOut">
              <a:rPr lang="en-US" smtClean="0"/>
              <a:t>12/4/2025</a:t>
            </a:fld>
            <a:endParaRPr lang="en-US"/>
          </a:p>
        </p:txBody>
      </p:sp>
      <p:sp>
        <p:nvSpPr>
          <p:cNvPr id="8" name="Footer Placeholder 7">
            <a:extLst>
              <a:ext uri="{FF2B5EF4-FFF2-40B4-BE49-F238E27FC236}">
                <a16:creationId xmlns:a16="http://schemas.microsoft.com/office/drawing/2014/main" id="{4EB2D647-42C5-4AB7-BB71-3A44065716E7}"/>
              </a:ext>
            </a:extLst>
          </p:cNvPr>
          <p:cNvSpPr>
            <a:spLocks noGrp="1"/>
          </p:cNvSpPr>
          <p:nvPr>
            <p:ph type="ftr" sz="quarter" idx="11"/>
          </p:nvPr>
        </p:nvSpPr>
        <p:spPr>
          <a:xfrm>
            <a:off x="484632" y="6419088"/>
            <a:ext cx="4114800" cy="365125"/>
          </a:xfrm>
        </p:spPr>
        <p:txBody>
          <a:bodyPr/>
          <a:lstStyle/>
          <a:p>
            <a:endParaRPr lang="en-US"/>
          </a:p>
        </p:txBody>
      </p:sp>
      <p:sp>
        <p:nvSpPr>
          <p:cNvPr id="9" name="Slide Number Placeholder 8">
            <a:extLst>
              <a:ext uri="{FF2B5EF4-FFF2-40B4-BE49-F238E27FC236}">
                <a16:creationId xmlns:a16="http://schemas.microsoft.com/office/drawing/2014/main" id="{590B2B67-714C-46DA-85E5-598B4244D3B0}"/>
              </a:ext>
            </a:extLst>
          </p:cNvPr>
          <p:cNvSpPr>
            <a:spLocks noGrp="1"/>
          </p:cNvSpPr>
          <p:nvPr>
            <p:ph type="sldNum" sz="quarter" idx="12"/>
          </p:nvPr>
        </p:nvSpPr>
        <p:spPr>
          <a:xfrm>
            <a:off x="10989591" y="-7190"/>
            <a:ext cx="640080" cy="365125"/>
          </a:xfrm>
        </p:spPr>
        <p:txBody>
          <a:bodyPr/>
          <a:lstStyle/>
          <a:p>
            <a:fld id="{60553ECD-7F6D-420D-93CA-D8D15EB427AC}" type="slidenum">
              <a:rPr lang="en-US" smtClean="0"/>
              <a:t>‹#›</a:t>
            </a:fld>
            <a:endParaRPr lang="en-US"/>
          </a:p>
        </p:txBody>
      </p:sp>
    </p:spTree>
    <p:extLst>
      <p:ext uri="{BB962C8B-B14F-4D97-AF65-F5344CB8AC3E}">
        <p14:creationId xmlns:p14="http://schemas.microsoft.com/office/powerpoint/2010/main" val="31391215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D4B6724-AB30-4E7C-BE2B-ECD94FF1B463}"/>
              </a:ext>
              <a:ext uri="{C183D7F6-B498-43B3-948B-1728B52AA6E4}">
                <adec:decorative xmlns:adec="http://schemas.microsoft.com/office/drawing/2017/decorative" val="1"/>
              </a:ext>
            </a:extLst>
          </p:cNvPr>
          <p:cNvSpPr/>
          <p:nvPr/>
        </p:nvSpPr>
        <p:spPr>
          <a:xfrm>
            <a:off x="481007" y="3933311"/>
            <a:ext cx="11147071" cy="2434825"/>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01D4BAB-2678-4A19-A575-C47CAF1446E5}"/>
              </a:ext>
            </a:extLst>
          </p:cNvPr>
          <p:cNvSpPr>
            <a:spLocks noGrp="1"/>
          </p:cNvSpPr>
          <p:nvPr>
            <p:ph type="title"/>
          </p:nvPr>
        </p:nvSpPr>
        <p:spPr>
          <a:xfrm>
            <a:off x="482600" y="978408"/>
            <a:ext cx="10634472" cy="2591509"/>
          </a:xfrm>
          <a:prstGeom prst="rect">
            <a:avLst/>
          </a:prstGeom>
        </p:spPr>
        <p:txBody>
          <a:bodyPr anchor="b"/>
          <a:lstStyle/>
          <a:p>
            <a:r>
              <a:rPr lang="en-US"/>
              <a:t>Click to edit Master title style</a:t>
            </a:r>
            <a:endParaRPr lang="en-US" dirty="0"/>
          </a:p>
        </p:txBody>
      </p:sp>
      <p:sp>
        <p:nvSpPr>
          <p:cNvPr id="3" name="Date Placeholder 2">
            <a:extLst>
              <a:ext uri="{FF2B5EF4-FFF2-40B4-BE49-F238E27FC236}">
                <a16:creationId xmlns:a16="http://schemas.microsoft.com/office/drawing/2014/main" id="{4047C89E-0ABD-4FD2-924C-894345ADFED8}"/>
              </a:ext>
            </a:extLst>
          </p:cNvPr>
          <p:cNvSpPr>
            <a:spLocks noGrp="1"/>
          </p:cNvSpPr>
          <p:nvPr>
            <p:ph type="dt" sz="half" idx="10"/>
          </p:nvPr>
        </p:nvSpPr>
        <p:spPr/>
        <p:txBody>
          <a:bodyPr/>
          <a:lstStyle/>
          <a:p>
            <a:fld id="{81B8F32D-D8B6-4B9E-9CBF-DCAC30B7B93D}" type="datetimeFigureOut">
              <a:rPr lang="en-US" smtClean="0"/>
              <a:t>12/4/2025</a:t>
            </a:fld>
            <a:endParaRPr lang="en-US"/>
          </a:p>
        </p:txBody>
      </p:sp>
      <p:sp>
        <p:nvSpPr>
          <p:cNvPr id="4" name="Footer Placeholder 3">
            <a:extLst>
              <a:ext uri="{FF2B5EF4-FFF2-40B4-BE49-F238E27FC236}">
                <a16:creationId xmlns:a16="http://schemas.microsoft.com/office/drawing/2014/main" id="{553026CE-9CC8-403B-88B1-184D16532A8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3B3D616-3C18-401B-A792-E75149FDFC47}"/>
              </a:ext>
            </a:extLst>
          </p:cNvPr>
          <p:cNvSpPr>
            <a:spLocks noGrp="1"/>
          </p:cNvSpPr>
          <p:nvPr>
            <p:ph type="sldNum" sz="quarter" idx="12"/>
          </p:nvPr>
        </p:nvSpPr>
        <p:spPr/>
        <p:txBody>
          <a:bodyPr/>
          <a:lstStyle/>
          <a:p>
            <a:fld id="{60553ECD-7F6D-420D-93CA-D8D15EB427AC}" type="slidenum">
              <a:rPr lang="en-US" smtClean="0"/>
              <a:t>‹#›</a:t>
            </a:fld>
            <a:endParaRPr lang="en-US"/>
          </a:p>
        </p:txBody>
      </p:sp>
      <p:cxnSp>
        <p:nvCxnSpPr>
          <p:cNvPr id="7" name="Straight Connector 6">
            <a:extLst>
              <a:ext uri="{FF2B5EF4-FFF2-40B4-BE49-F238E27FC236}">
                <a16:creationId xmlns:a16="http://schemas.microsoft.com/office/drawing/2014/main" id="{04EC6F70-D800-4067-A36A-5BBFC8018E2D}"/>
              </a:ext>
              <a:ext uri="{C183D7F6-B498-43B3-948B-1728B52AA6E4}">
                <adec:decorative xmlns:adec="http://schemas.microsoft.com/office/drawing/2017/decorative" val="1"/>
              </a:ext>
            </a:extLst>
          </p:cNvPr>
          <p:cNvCxnSpPr>
            <a:cxnSpLocks/>
          </p:cNvCxnSpPr>
          <p:nvPr/>
        </p:nvCxnSpPr>
        <p:spPr>
          <a:xfrm>
            <a:off x="482600" y="3933311"/>
            <a:ext cx="11147071"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42B66CB6-8988-4FBA-8524-726765A5F2AA}"/>
              </a:ext>
              <a:ext uri="{C183D7F6-B498-43B3-948B-1728B52AA6E4}">
                <adec:decorative xmlns:adec="http://schemas.microsoft.com/office/drawing/2017/decorative" val="1"/>
              </a:ext>
            </a:extLst>
          </p:cNvPr>
          <p:cNvCxnSpPr>
            <a:cxnSpLocks/>
          </p:cNvCxnSpPr>
          <p:nvPr/>
        </p:nvCxnSpPr>
        <p:spPr>
          <a:xfrm>
            <a:off x="481007" y="6368138"/>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4400197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5C73F84-0C6B-4EF4-9405-C389824999D4}"/>
              </a:ext>
            </a:extLst>
          </p:cNvPr>
          <p:cNvSpPr>
            <a:spLocks noGrp="1"/>
          </p:cNvSpPr>
          <p:nvPr>
            <p:ph type="dt" sz="half" idx="10"/>
          </p:nvPr>
        </p:nvSpPr>
        <p:spPr/>
        <p:txBody>
          <a:bodyPr/>
          <a:lstStyle/>
          <a:p>
            <a:fld id="{81B8F32D-D8B6-4B9E-9CBF-DCAC30B7B93D}" type="datetimeFigureOut">
              <a:rPr lang="en-US" smtClean="0"/>
              <a:t>12/4/2025</a:t>
            </a:fld>
            <a:endParaRPr lang="en-US"/>
          </a:p>
        </p:txBody>
      </p:sp>
      <p:sp>
        <p:nvSpPr>
          <p:cNvPr id="3" name="Footer Placeholder 2">
            <a:extLst>
              <a:ext uri="{FF2B5EF4-FFF2-40B4-BE49-F238E27FC236}">
                <a16:creationId xmlns:a16="http://schemas.microsoft.com/office/drawing/2014/main" id="{DCCEC807-744E-4C5C-8B15-09AED3E570A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DFBCB19-9F4B-474C-85C1-4A645A971827}"/>
              </a:ext>
            </a:extLst>
          </p:cNvPr>
          <p:cNvSpPr>
            <a:spLocks noGrp="1"/>
          </p:cNvSpPr>
          <p:nvPr>
            <p:ph type="sldNum" sz="quarter" idx="12"/>
          </p:nvPr>
        </p:nvSpPr>
        <p:spPr/>
        <p:txBody>
          <a:bodyPr/>
          <a:lstStyle/>
          <a:p>
            <a:fld id="{60553ECD-7F6D-420D-93CA-D8D15EB427AC}" type="slidenum">
              <a:rPr lang="en-US" smtClean="0"/>
              <a:t>‹#›</a:t>
            </a:fld>
            <a:endParaRPr lang="en-US"/>
          </a:p>
        </p:txBody>
      </p:sp>
    </p:spTree>
    <p:extLst>
      <p:ext uri="{BB962C8B-B14F-4D97-AF65-F5344CB8AC3E}">
        <p14:creationId xmlns:p14="http://schemas.microsoft.com/office/powerpoint/2010/main" val="1789932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A88B0-DD6B-449B-AE32-D3192081E76F}"/>
              </a:ext>
            </a:extLst>
          </p:cNvPr>
          <p:cNvSpPr>
            <a:spLocks noGrp="1"/>
          </p:cNvSpPr>
          <p:nvPr>
            <p:ph type="title"/>
          </p:nvPr>
        </p:nvSpPr>
        <p:spPr>
          <a:xfrm>
            <a:off x="484632" y="978408"/>
            <a:ext cx="4287393" cy="2450592"/>
          </a:xfrm>
          <a:prstGeom prst="rect">
            <a:avLst/>
          </a:prstGeom>
        </p:spPr>
        <p:txBody>
          <a:bodyPr anchor="b"/>
          <a:lstStyle>
            <a:lvl1pPr>
              <a:defRPr lang="en-US" sz="5400" kern="1200" smtClean="0">
                <a:solidFill>
                  <a:schemeClr val="tx1"/>
                </a:solidFill>
                <a:latin typeface="+mj-lt"/>
                <a:ea typeface="+mj-ea"/>
                <a:cs typeface="+mj-cs"/>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4F22ED6-5B69-4B3B-BF96-3A75F2107FA6}"/>
              </a:ext>
            </a:extLst>
          </p:cNvPr>
          <p:cNvSpPr>
            <a:spLocks noGrp="1"/>
          </p:cNvSpPr>
          <p:nvPr>
            <p:ph idx="1"/>
          </p:nvPr>
        </p:nvSpPr>
        <p:spPr>
          <a:xfrm>
            <a:off x="5183187" y="987425"/>
            <a:ext cx="6446484"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07704043-D45F-440A-A15D-2718A913E05A}"/>
              </a:ext>
            </a:extLst>
          </p:cNvPr>
          <p:cNvSpPr>
            <a:spLocks noGrp="1"/>
          </p:cNvSpPr>
          <p:nvPr>
            <p:ph type="body" sz="half" idx="2"/>
          </p:nvPr>
        </p:nvSpPr>
        <p:spPr>
          <a:xfrm>
            <a:off x="484632" y="3645074"/>
            <a:ext cx="4287393" cy="2223914"/>
          </a:xfrm>
        </p:spPr>
        <p:txBody>
          <a:bodyPr/>
          <a:lstStyle>
            <a:lvl1pPr marL="0" indent="0">
              <a:buNone/>
              <a:defRPr lang="en-US" sz="2400" i="1" kern="1200" dirty="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B0072DC-7326-43E7-806C-B690C439E8A8}"/>
              </a:ext>
            </a:extLst>
          </p:cNvPr>
          <p:cNvSpPr>
            <a:spLocks noGrp="1"/>
          </p:cNvSpPr>
          <p:nvPr>
            <p:ph type="dt" sz="half" idx="10"/>
          </p:nvPr>
        </p:nvSpPr>
        <p:spPr/>
        <p:txBody>
          <a:bodyPr/>
          <a:lstStyle/>
          <a:p>
            <a:fld id="{81B8F32D-D8B6-4B9E-9CBF-DCAC30B7B93D}" type="datetimeFigureOut">
              <a:rPr lang="en-US" smtClean="0"/>
              <a:t>12/4/2025</a:t>
            </a:fld>
            <a:endParaRPr lang="en-US"/>
          </a:p>
        </p:txBody>
      </p:sp>
      <p:sp>
        <p:nvSpPr>
          <p:cNvPr id="6" name="Footer Placeholder 5">
            <a:extLst>
              <a:ext uri="{FF2B5EF4-FFF2-40B4-BE49-F238E27FC236}">
                <a16:creationId xmlns:a16="http://schemas.microsoft.com/office/drawing/2014/main" id="{73F89A0F-B8C6-4AA6-A9C4-4A454F4224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E57A616-A4F2-4FC5-88DE-B4E6BA542895}"/>
              </a:ext>
            </a:extLst>
          </p:cNvPr>
          <p:cNvSpPr>
            <a:spLocks noGrp="1"/>
          </p:cNvSpPr>
          <p:nvPr>
            <p:ph type="sldNum" sz="quarter" idx="12"/>
          </p:nvPr>
        </p:nvSpPr>
        <p:spPr/>
        <p:txBody>
          <a:bodyPr/>
          <a:lstStyle/>
          <a:p>
            <a:fld id="{60553ECD-7F6D-420D-93CA-D8D15EB427AC}" type="slidenum">
              <a:rPr lang="en-US" smtClean="0"/>
              <a:t>‹#›</a:t>
            </a:fld>
            <a:endParaRPr lang="en-US"/>
          </a:p>
        </p:txBody>
      </p:sp>
    </p:spTree>
    <p:extLst>
      <p:ext uri="{BB962C8B-B14F-4D97-AF65-F5344CB8AC3E}">
        <p14:creationId xmlns:p14="http://schemas.microsoft.com/office/powerpoint/2010/main" val="9770886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6B773D-D007-4687-BA9C-9F229829B5EF}"/>
              </a:ext>
            </a:extLst>
          </p:cNvPr>
          <p:cNvSpPr>
            <a:spLocks noGrp="1"/>
          </p:cNvSpPr>
          <p:nvPr>
            <p:ph type="title"/>
          </p:nvPr>
        </p:nvSpPr>
        <p:spPr>
          <a:xfrm>
            <a:off x="484632" y="978407"/>
            <a:ext cx="4287393" cy="2450593"/>
          </a:xfrm>
          <a:prstGeom prst="rect">
            <a:avLst/>
          </a:prstGeom>
        </p:spPr>
        <p:txBody>
          <a:bodyPr anchor="b"/>
          <a:lstStyle>
            <a:lvl1pPr>
              <a:defRPr lang="en-US" sz="5400" kern="1200" smtClean="0">
                <a:solidFill>
                  <a:schemeClr val="tx1"/>
                </a:solidFill>
                <a:latin typeface="+mj-lt"/>
                <a:ea typeface="+mj-ea"/>
                <a:cs typeface="+mj-cs"/>
              </a:defRPr>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A3A75FC-78D2-4EF5-884F-11B7BACF799A}"/>
              </a:ext>
            </a:extLst>
          </p:cNvPr>
          <p:cNvSpPr>
            <a:spLocks noGrp="1"/>
          </p:cNvSpPr>
          <p:nvPr>
            <p:ph type="pic" idx="1"/>
          </p:nvPr>
        </p:nvSpPr>
        <p:spPr>
          <a:xfrm>
            <a:off x="5183187" y="987425"/>
            <a:ext cx="6446483"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D7CE0BB-D335-4391-A23F-194C575CAF8F}"/>
              </a:ext>
            </a:extLst>
          </p:cNvPr>
          <p:cNvSpPr>
            <a:spLocks noGrp="1"/>
          </p:cNvSpPr>
          <p:nvPr>
            <p:ph type="body" sz="half" idx="2"/>
          </p:nvPr>
        </p:nvSpPr>
        <p:spPr>
          <a:xfrm>
            <a:off x="484632" y="3645074"/>
            <a:ext cx="4287393" cy="2223914"/>
          </a:xfrm>
        </p:spPr>
        <p:txBody>
          <a:bodyPr/>
          <a:lstStyle>
            <a:lvl1pPr marL="0" indent="0">
              <a:buNone/>
              <a:defRPr lang="en-US" sz="2400" i="1" kern="1200" smtClean="0">
                <a:solidFill>
                  <a:schemeClr val="tx1"/>
                </a:solidFill>
                <a:latin typeface="+mn-lt"/>
                <a:ea typeface="+mn-ea"/>
                <a:cs typeface="+mn-cs"/>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7701E1-B97B-4DA5-B9AD-07B7C12476AE}"/>
              </a:ext>
            </a:extLst>
          </p:cNvPr>
          <p:cNvSpPr>
            <a:spLocks noGrp="1"/>
          </p:cNvSpPr>
          <p:nvPr>
            <p:ph type="dt" sz="half" idx="10"/>
          </p:nvPr>
        </p:nvSpPr>
        <p:spPr/>
        <p:txBody>
          <a:bodyPr/>
          <a:lstStyle/>
          <a:p>
            <a:fld id="{81B8F32D-D8B6-4B9E-9CBF-DCAC30B7B93D}" type="datetimeFigureOut">
              <a:rPr lang="en-US" smtClean="0"/>
              <a:t>12/4/2025</a:t>
            </a:fld>
            <a:endParaRPr lang="en-US"/>
          </a:p>
        </p:txBody>
      </p:sp>
      <p:sp>
        <p:nvSpPr>
          <p:cNvPr id="6" name="Footer Placeholder 5">
            <a:extLst>
              <a:ext uri="{FF2B5EF4-FFF2-40B4-BE49-F238E27FC236}">
                <a16:creationId xmlns:a16="http://schemas.microsoft.com/office/drawing/2014/main" id="{076D9CF8-F42F-4618-9F26-8BFE56487AA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9CA2023-1ECA-4A96-BDC7-F7FA4368BE1B}"/>
              </a:ext>
            </a:extLst>
          </p:cNvPr>
          <p:cNvSpPr>
            <a:spLocks noGrp="1"/>
          </p:cNvSpPr>
          <p:nvPr>
            <p:ph type="sldNum" sz="quarter" idx="12"/>
          </p:nvPr>
        </p:nvSpPr>
        <p:spPr/>
        <p:txBody>
          <a:bodyPr/>
          <a:lstStyle/>
          <a:p>
            <a:fld id="{60553ECD-7F6D-420D-93CA-D8D15EB427AC}" type="slidenum">
              <a:rPr lang="en-US" smtClean="0"/>
              <a:t>‹#›</a:t>
            </a:fld>
            <a:endParaRPr lang="en-US"/>
          </a:p>
        </p:txBody>
      </p:sp>
    </p:spTree>
    <p:extLst>
      <p:ext uri="{BB962C8B-B14F-4D97-AF65-F5344CB8AC3E}">
        <p14:creationId xmlns:p14="http://schemas.microsoft.com/office/powerpoint/2010/main" val="3915742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1999A10-4355-4A13-B008-196B21ABEEAF}"/>
              </a:ext>
              <a:ext uri="{C183D7F6-B498-43B3-948B-1728B52AA6E4}">
                <adec:decorative xmlns:adec="http://schemas.microsoft.com/office/drawing/2017/decorative" val="1"/>
              </a:ext>
            </a:extLst>
          </p:cNvPr>
          <p:cNvSpPr/>
          <p:nvPr/>
        </p:nvSpPr>
        <p:spPr>
          <a:xfrm>
            <a:off x="482600" y="483576"/>
            <a:ext cx="11147071" cy="2434825"/>
          </a:xfrm>
          <a:prstGeom prst="rect">
            <a:avLst/>
          </a:prstGeom>
          <a:solidFill>
            <a:schemeClr val="accent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F36D448-AFEA-4483-B0E4-002840525CDD}"/>
              </a:ext>
            </a:extLst>
          </p:cNvPr>
          <p:cNvSpPr>
            <a:spLocks noGrp="1"/>
          </p:cNvSpPr>
          <p:nvPr>
            <p:ph type="title"/>
          </p:nvPr>
        </p:nvSpPr>
        <p:spPr>
          <a:xfrm>
            <a:off x="482600" y="978408"/>
            <a:ext cx="10506991" cy="1755263"/>
          </a:xfrm>
          <a:prstGeom prst="rect">
            <a:avLst/>
          </a:prstGeom>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CF216234-4516-4303-8F60-A8127D89A5E5}"/>
              </a:ext>
            </a:extLst>
          </p:cNvPr>
          <p:cNvSpPr>
            <a:spLocks noGrp="1"/>
          </p:cNvSpPr>
          <p:nvPr>
            <p:ph type="body" orient="vert" idx="1"/>
          </p:nvPr>
        </p:nvSpPr>
        <p:spPr>
          <a:xfrm>
            <a:off x="484192" y="3103131"/>
            <a:ext cx="10506991" cy="309294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46B5D50-A474-462B-A807-DF186B1C2F48}"/>
              </a:ext>
            </a:extLst>
          </p:cNvPr>
          <p:cNvSpPr>
            <a:spLocks noGrp="1"/>
          </p:cNvSpPr>
          <p:nvPr>
            <p:ph type="dt" sz="half" idx="10"/>
          </p:nvPr>
        </p:nvSpPr>
        <p:spPr/>
        <p:txBody>
          <a:bodyPr/>
          <a:lstStyle/>
          <a:p>
            <a:fld id="{81B8F32D-D8B6-4B9E-9CBF-DCAC30B7B93D}" type="datetimeFigureOut">
              <a:rPr lang="en-US" smtClean="0"/>
              <a:t>12/4/2025</a:t>
            </a:fld>
            <a:endParaRPr lang="en-US"/>
          </a:p>
        </p:txBody>
      </p:sp>
      <p:sp>
        <p:nvSpPr>
          <p:cNvPr id="5" name="Footer Placeholder 4">
            <a:extLst>
              <a:ext uri="{FF2B5EF4-FFF2-40B4-BE49-F238E27FC236}">
                <a16:creationId xmlns:a16="http://schemas.microsoft.com/office/drawing/2014/main" id="{F8BF1DAF-2E2D-46ED-AA3E-3D2FE40399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2FC771-EB13-4EB5-A0A2-3968C6ABBD4E}"/>
              </a:ext>
            </a:extLst>
          </p:cNvPr>
          <p:cNvSpPr>
            <a:spLocks noGrp="1"/>
          </p:cNvSpPr>
          <p:nvPr>
            <p:ph type="sldNum" sz="quarter" idx="12"/>
          </p:nvPr>
        </p:nvSpPr>
        <p:spPr/>
        <p:txBody>
          <a:bodyPr/>
          <a:lstStyle/>
          <a:p>
            <a:fld id="{60553ECD-7F6D-420D-93CA-D8D15EB427AC}" type="slidenum">
              <a:rPr lang="en-US" smtClean="0"/>
              <a:t>‹#›</a:t>
            </a:fld>
            <a:endParaRPr lang="en-US"/>
          </a:p>
        </p:txBody>
      </p:sp>
      <p:cxnSp>
        <p:nvCxnSpPr>
          <p:cNvPr id="8" name="Straight Connector 7">
            <a:extLst>
              <a:ext uri="{FF2B5EF4-FFF2-40B4-BE49-F238E27FC236}">
                <a16:creationId xmlns:a16="http://schemas.microsoft.com/office/drawing/2014/main" id="{B3B596B8-8230-4695-8D76-F06AFA8156C3}"/>
              </a:ext>
              <a:ext uri="{C183D7F6-B498-43B3-948B-1728B52AA6E4}">
                <adec:decorative xmlns:adec="http://schemas.microsoft.com/office/drawing/2017/decorative" val="1"/>
              </a:ext>
            </a:extLst>
          </p:cNvPr>
          <p:cNvCxnSpPr>
            <a:cxnSpLocks/>
          </p:cNvCxnSpPr>
          <p:nvPr/>
        </p:nvCxnSpPr>
        <p:spPr>
          <a:xfrm>
            <a:off x="482600" y="2918401"/>
            <a:ext cx="11147071"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C53EBF93-5FD9-4F4E-8485-7B937145CD08}"/>
              </a:ext>
              <a:ext uri="{C183D7F6-B498-43B3-948B-1728B52AA6E4}">
                <adec:decorative xmlns:adec="http://schemas.microsoft.com/office/drawing/2017/decorative" val="1"/>
              </a:ext>
            </a:extLst>
          </p:cNvPr>
          <p:cNvCxnSpPr>
            <a:cxnSpLocks/>
          </p:cNvCxnSpPr>
          <p:nvPr/>
        </p:nvCxnSpPr>
        <p:spPr>
          <a:xfrm>
            <a:off x="482600" y="489855"/>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164111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66B4D06-C7C6-4949-8EB2-F03ED999A2BB}"/>
              </a:ext>
            </a:extLst>
          </p:cNvPr>
          <p:cNvSpPr>
            <a:spLocks noGrp="1"/>
          </p:cNvSpPr>
          <p:nvPr>
            <p:ph type="title" orient="vert"/>
          </p:nvPr>
        </p:nvSpPr>
        <p:spPr>
          <a:xfrm>
            <a:off x="8041710" y="978408"/>
            <a:ext cx="2947881" cy="5124777"/>
          </a:xfrm>
          <a:prstGeom prst="rect">
            <a:avLst/>
          </a:prstGeo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C921B9D-8C11-4176-AF22-89F972E21284}"/>
              </a:ext>
            </a:extLst>
          </p:cNvPr>
          <p:cNvSpPr>
            <a:spLocks noGrp="1"/>
          </p:cNvSpPr>
          <p:nvPr>
            <p:ph type="body" orient="vert" idx="1"/>
          </p:nvPr>
        </p:nvSpPr>
        <p:spPr>
          <a:xfrm>
            <a:off x="484632" y="978408"/>
            <a:ext cx="7256453" cy="51247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AFA9E1C-8E18-4A35-9BD8-427B1D14BB8E}"/>
              </a:ext>
            </a:extLst>
          </p:cNvPr>
          <p:cNvSpPr>
            <a:spLocks noGrp="1"/>
          </p:cNvSpPr>
          <p:nvPr>
            <p:ph type="dt" sz="half" idx="10"/>
          </p:nvPr>
        </p:nvSpPr>
        <p:spPr/>
        <p:txBody>
          <a:bodyPr/>
          <a:lstStyle/>
          <a:p>
            <a:fld id="{81B8F32D-D8B6-4B9E-9CBF-DCAC30B7B93D}" type="datetimeFigureOut">
              <a:rPr lang="en-US" smtClean="0"/>
              <a:t>12/4/2025</a:t>
            </a:fld>
            <a:endParaRPr lang="en-US"/>
          </a:p>
        </p:txBody>
      </p:sp>
      <p:sp>
        <p:nvSpPr>
          <p:cNvPr id="5" name="Footer Placeholder 4">
            <a:extLst>
              <a:ext uri="{FF2B5EF4-FFF2-40B4-BE49-F238E27FC236}">
                <a16:creationId xmlns:a16="http://schemas.microsoft.com/office/drawing/2014/main" id="{2E116CDB-7BB6-4DD2-A626-6DA8E569F2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D0403B-439E-449F-83B1-799EEC239A20}"/>
              </a:ext>
            </a:extLst>
          </p:cNvPr>
          <p:cNvSpPr>
            <a:spLocks noGrp="1"/>
          </p:cNvSpPr>
          <p:nvPr>
            <p:ph type="sldNum" sz="quarter" idx="12"/>
          </p:nvPr>
        </p:nvSpPr>
        <p:spPr/>
        <p:txBody>
          <a:bodyPr/>
          <a:lstStyle/>
          <a:p>
            <a:fld id="{60553ECD-7F6D-420D-93CA-D8D15EB427AC}" type="slidenum">
              <a:rPr lang="en-US" smtClean="0"/>
              <a:t>‹#›</a:t>
            </a:fld>
            <a:endParaRPr lang="en-US"/>
          </a:p>
        </p:txBody>
      </p:sp>
    </p:spTree>
    <p:extLst>
      <p:ext uri="{BB962C8B-B14F-4D97-AF65-F5344CB8AC3E}">
        <p14:creationId xmlns:p14="http://schemas.microsoft.com/office/powerpoint/2010/main" val="5451293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87A535-3CAC-46BC-B2B2-3AE83EC3A561}"/>
              </a:ext>
            </a:extLst>
          </p:cNvPr>
          <p:cNvSpPr>
            <a:spLocks noGrp="1"/>
          </p:cNvSpPr>
          <p:nvPr>
            <p:ph type="title"/>
          </p:nvPr>
        </p:nvSpPr>
        <p:spPr>
          <a:xfrm>
            <a:off x="482600" y="978408"/>
            <a:ext cx="10506991" cy="2153099"/>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D8EBDBD-59EC-46ED-BE79-6D37B531D692}"/>
              </a:ext>
            </a:extLst>
          </p:cNvPr>
          <p:cNvSpPr>
            <a:spLocks noGrp="1"/>
          </p:cNvSpPr>
          <p:nvPr>
            <p:ph type="body" idx="1"/>
          </p:nvPr>
        </p:nvSpPr>
        <p:spPr>
          <a:xfrm>
            <a:off x="482600" y="3306870"/>
            <a:ext cx="10506991" cy="2572721"/>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5921F5C-FD3D-42C7-90F4-5ECE6FFCFE7F}"/>
              </a:ext>
            </a:extLst>
          </p:cNvPr>
          <p:cNvSpPr>
            <a:spLocks noGrp="1"/>
          </p:cNvSpPr>
          <p:nvPr>
            <p:ph type="dt" sz="half" idx="2"/>
          </p:nvPr>
        </p:nvSpPr>
        <p:spPr>
          <a:xfrm>
            <a:off x="484632" y="100584"/>
            <a:ext cx="2743200" cy="365125"/>
          </a:xfrm>
          <a:prstGeom prst="rect">
            <a:avLst/>
          </a:prstGeom>
        </p:spPr>
        <p:txBody>
          <a:bodyPr vert="horz" lIns="91440" tIns="45720" rIns="91440" bIns="45720" rtlCol="0" anchor="ctr"/>
          <a:lstStyle>
            <a:lvl1pPr algn="l">
              <a:defRPr sz="900">
                <a:solidFill>
                  <a:schemeClr val="tx1"/>
                </a:solidFill>
              </a:defRPr>
            </a:lvl1pPr>
          </a:lstStyle>
          <a:p>
            <a:fld id="{81B8F32D-D8B6-4B9E-9CBF-DCAC30B7B93D}" type="datetimeFigureOut">
              <a:rPr lang="en-US" smtClean="0"/>
              <a:pPr/>
              <a:t>12/4/2025</a:t>
            </a:fld>
            <a:endParaRPr lang="en-US" dirty="0"/>
          </a:p>
        </p:txBody>
      </p:sp>
      <p:sp>
        <p:nvSpPr>
          <p:cNvPr id="5" name="Footer Placeholder 4">
            <a:extLst>
              <a:ext uri="{FF2B5EF4-FFF2-40B4-BE49-F238E27FC236}">
                <a16:creationId xmlns:a16="http://schemas.microsoft.com/office/drawing/2014/main" id="{0FE63D50-6D0B-4963-97B9-A32AE63235B8}"/>
              </a:ext>
            </a:extLst>
          </p:cNvPr>
          <p:cNvSpPr>
            <a:spLocks noGrp="1"/>
          </p:cNvSpPr>
          <p:nvPr>
            <p:ph type="ftr" sz="quarter" idx="3"/>
          </p:nvPr>
        </p:nvSpPr>
        <p:spPr>
          <a:xfrm>
            <a:off x="484632" y="6419088"/>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826B5E08-CAC3-4C87-B143-5F8956AE905D}"/>
              </a:ext>
            </a:extLst>
          </p:cNvPr>
          <p:cNvSpPr>
            <a:spLocks noGrp="1"/>
          </p:cNvSpPr>
          <p:nvPr>
            <p:ph type="sldNum" sz="quarter" idx="4"/>
          </p:nvPr>
        </p:nvSpPr>
        <p:spPr>
          <a:xfrm>
            <a:off x="10989591" y="100584"/>
            <a:ext cx="640080" cy="365125"/>
          </a:xfrm>
          <a:prstGeom prst="rect">
            <a:avLst/>
          </a:prstGeom>
        </p:spPr>
        <p:txBody>
          <a:bodyPr vert="horz" lIns="91440" tIns="45720" rIns="91440" bIns="45720" rtlCol="0" anchor="ctr"/>
          <a:lstStyle>
            <a:lvl1pPr algn="r">
              <a:defRPr sz="900">
                <a:solidFill>
                  <a:schemeClr val="tx1"/>
                </a:solidFill>
              </a:defRPr>
            </a:lvl1pPr>
          </a:lstStyle>
          <a:p>
            <a:fld id="{60553ECD-7F6D-420D-93CA-D8D15EB427AC}" type="slidenum">
              <a:rPr lang="en-US" smtClean="0"/>
              <a:pPr/>
              <a:t>‹#›</a:t>
            </a:fld>
            <a:endParaRPr lang="en-US" dirty="0"/>
          </a:p>
        </p:txBody>
      </p:sp>
      <p:cxnSp>
        <p:nvCxnSpPr>
          <p:cNvPr id="8" name="Straight Connector 7">
            <a:extLst>
              <a:ext uri="{FF2B5EF4-FFF2-40B4-BE49-F238E27FC236}">
                <a16:creationId xmlns:a16="http://schemas.microsoft.com/office/drawing/2014/main" id="{108D74AC-B125-4E11-BA53-E9E383966DF8}"/>
              </a:ext>
              <a:ext uri="{C183D7F6-B498-43B3-948B-1728B52AA6E4}">
                <adec:decorative xmlns:adec="http://schemas.microsoft.com/office/drawing/2017/decorative" val="1"/>
              </a:ext>
            </a:extLst>
          </p:cNvPr>
          <p:cNvCxnSpPr>
            <a:cxnSpLocks/>
          </p:cNvCxnSpPr>
          <p:nvPr/>
        </p:nvCxnSpPr>
        <p:spPr>
          <a:xfrm>
            <a:off x="482600" y="489855"/>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cxnSp>
        <p:nvCxnSpPr>
          <p:cNvPr id="10" name="Straight Connector 9">
            <a:extLst>
              <a:ext uri="{FF2B5EF4-FFF2-40B4-BE49-F238E27FC236}">
                <a16:creationId xmlns:a16="http://schemas.microsoft.com/office/drawing/2014/main" id="{9DC76EBE-FB9D-4054-B5D8-19E3EAFE40B2}"/>
              </a:ext>
              <a:ext uri="{C183D7F6-B498-43B3-948B-1728B52AA6E4}">
                <adec:decorative xmlns:adec="http://schemas.microsoft.com/office/drawing/2017/decorative" val="1"/>
              </a:ext>
            </a:extLst>
          </p:cNvPr>
          <p:cNvCxnSpPr>
            <a:cxnSpLocks/>
          </p:cNvCxnSpPr>
          <p:nvPr/>
        </p:nvCxnSpPr>
        <p:spPr>
          <a:xfrm>
            <a:off x="482600" y="6368138"/>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862871662"/>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Lst>
  <p:txStyles>
    <p:titleStyle>
      <a:lvl1pPr algn="l" defTabSz="914400" rtl="0" eaLnBrk="1" latinLnBrk="0" hangingPunct="1">
        <a:lnSpc>
          <a:spcPct val="100000"/>
        </a:lnSpc>
        <a:spcBef>
          <a:spcPct val="0"/>
        </a:spcBef>
        <a:buNone/>
        <a:defRPr sz="660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sz="24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E20BB609-EF92-42DB-836C-0699A590B5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0FA88D0-E295-4CF3-934C-6423EACEB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descr="Cloudy oil paint art">
            <a:extLst>
              <a:ext uri="{FF2B5EF4-FFF2-40B4-BE49-F238E27FC236}">
                <a16:creationId xmlns:a16="http://schemas.microsoft.com/office/drawing/2014/main" id="{6AD06329-ABF1-3B59-A930-9A63C6506803}"/>
              </a:ext>
            </a:extLst>
          </p:cNvPr>
          <p:cNvPicPr>
            <a:picLocks noChangeAspect="1"/>
          </p:cNvPicPr>
          <p:nvPr/>
        </p:nvPicPr>
        <p:blipFill>
          <a:blip r:embed="rId2">
            <a:alphaModFix amt="40000"/>
          </a:blip>
          <a:srcRect t="15246" r="-1" b="462"/>
          <a:stretch/>
        </p:blipFill>
        <p:spPr>
          <a:xfrm>
            <a:off x="0" y="-1"/>
            <a:ext cx="12188932" cy="6857990"/>
          </a:xfrm>
          <a:prstGeom prst="rect">
            <a:avLst/>
          </a:prstGeom>
        </p:spPr>
      </p:pic>
      <p:sp>
        <p:nvSpPr>
          <p:cNvPr id="2" name="Title 1">
            <a:extLst>
              <a:ext uri="{FF2B5EF4-FFF2-40B4-BE49-F238E27FC236}">
                <a16:creationId xmlns:a16="http://schemas.microsoft.com/office/drawing/2014/main" id="{505453DC-640A-5769-0896-6CC2C7FBB92B}"/>
              </a:ext>
            </a:extLst>
          </p:cNvPr>
          <p:cNvSpPr>
            <a:spLocks noGrp="1"/>
          </p:cNvSpPr>
          <p:nvPr>
            <p:ph type="ctrTitle"/>
          </p:nvPr>
        </p:nvSpPr>
        <p:spPr>
          <a:xfrm>
            <a:off x="482600" y="732032"/>
            <a:ext cx="11147071" cy="2952994"/>
          </a:xfrm>
        </p:spPr>
        <p:txBody>
          <a:bodyPr anchor="t">
            <a:normAutofit/>
          </a:bodyPr>
          <a:lstStyle/>
          <a:p>
            <a:r>
              <a:rPr lang="en-US" sz="5400" b="1" dirty="0">
                <a:solidFill>
                  <a:schemeClr val="bg1"/>
                </a:solidFill>
                <a:latin typeface="Times New Roman" panose="02020603050405020304" pitchFamily="18" charset="0"/>
                <a:cs typeface="Times New Roman" panose="02020603050405020304" pitchFamily="18" charset="0"/>
              </a:rPr>
              <a:t>Business Idea:</a:t>
            </a:r>
            <a:br>
              <a:rPr lang="en-US" sz="5400" b="1" dirty="0">
                <a:solidFill>
                  <a:schemeClr val="bg1"/>
                </a:solidFill>
                <a:latin typeface="Times New Roman" panose="02020603050405020304" pitchFamily="18" charset="0"/>
                <a:cs typeface="Times New Roman" panose="02020603050405020304" pitchFamily="18" charset="0"/>
              </a:rPr>
            </a:br>
            <a:r>
              <a:rPr lang="en-US" sz="5400" b="1" dirty="0">
                <a:solidFill>
                  <a:schemeClr val="bg1"/>
                </a:solidFill>
                <a:latin typeface="Times New Roman" panose="02020603050405020304" pitchFamily="18" charset="0"/>
                <a:cs typeface="Times New Roman" panose="02020603050405020304" pitchFamily="18" charset="0"/>
              </a:rPr>
              <a:t>Xoxoday.com: Customer Engagement through Social Media</a:t>
            </a:r>
            <a:endParaRPr lang="en-US" sz="23900" b="1" dirty="0">
              <a:solidFill>
                <a:schemeClr val="bg1"/>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6A207E31-8AE3-AE22-EC86-C70519B83406}"/>
              </a:ext>
            </a:extLst>
          </p:cNvPr>
          <p:cNvSpPr>
            <a:spLocks noGrp="1"/>
          </p:cNvSpPr>
          <p:nvPr>
            <p:ph type="subTitle" idx="1"/>
          </p:nvPr>
        </p:nvSpPr>
        <p:spPr>
          <a:xfrm>
            <a:off x="8196943" y="3839614"/>
            <a:ext cx="4083795" cy="2286354"/>
          </a:xfrm>
        </p:spPr>
        <p:txBody>
          <a:bodyPr anchor="b">
            <a:normAutofit/>
          </a:bodyPr>
          <a:lstStyle/>
          <a:p>
            <a:r>
              <a:rPr lang="en-US" u="sng" dirty="0">
                <a:solidFill>
                  <a:srgbClr val="FFFFFF"/>
                </a:solidFill>
                <a:latin typeface="Times New Roman" panose="02020603050405020304" pitchFamily="18" charset="0"/>
                <a:cs typeface="Times New Roman" panose="02020603050405020304" pitchFamily="18" charset="0"/>
              </a:rPr>
              <a:t>TEAM</a:t>
            </a:r>
            <a:r>
              <a:rPr lang="en-US" dirty="0">
                <a:solidFill>
                  <a:srgbClr val="FFFFFF"/>
                </a:solidFill>
                <a:latin typeface="Times New Roman" panose="02020603050405020304" pitchFamily="18" charset="0"/>
                <a:cs typeface="Times New Roman" panose="02020603050405020304" pitchFamily="18" charset="0"/>
              </a:rPr>
              <a:t>:</a:t>
            </a:r>
            <a:br>
              <a:rPr lang="en-US" dirty="0">
                <a:solidFill>
                  <a:srgbClr val="FFFFFF"/>
                </a:solidFill>
                <a:latin typeface="Times New Roman" panose="02020603050405020304" pitchFamily="18" charset="0"/>
                <a:cs typeface="Times New Roman" panose="02020603050405020304" pitchFamily="18" charset="0"/>
              </a:rPr>
            </a:br>
            <a:br>
              <a:rPr lang="en-US" dirty="0">
                <a:solidFill>
                  <a:srgbClr val="FFFFFF"/>
                </a:solidFill>
                <a:latin typeface="Times New Roman" panose="02020603050405020304" pitchFamily="18" charset="0"/>
                <a:cs typeface="Times New Roman" panose="02020603050405020304" pitchFamily="18" charset="0"/>
              </a:rPr>
            </a:br>
            <a:r>
              <a:rPr lang="en-US" dirty="0">
                <a:solidFill>
                  <a:schemeClr val="bg1"/>
                </a:solidFill>
              </a:rPr>
              <a:t>Durga </a:t>
            </a:r>
            <a:r>
              <a:rPr lang="en-US" dirty="0" err="1">
                <a:solidFill>
                  <a:schemeClr val="bg1"/>
                </a:solidFill>
              </a:rPr>
              <a:t>Ganeshula</a:t>
            </a:r>
            <a:br>
              <a:rPr lang="en-US" dirty="0">
                <a:solidFill>
                  <a:schemeClr val="bg1"/>
                </a:solidFill>
              </a:rPr>
            </a:br>
            <a:r>
              <a:rPr lang="en-US" dirty="0">
                <a:solidFill>
                  <a:schemeClr val="bg1"/>
                </a:solidFill>
              </a:rPr>
              <a:t>Muskan Jiwani </a:t>
            </a:r>
            <a:br>
              <a:rPr lang="en-US" dirty="0">
                <a:solidFill>
                  <a:schemeClr val="bg1"/>
                </a:solidFill>
              </a:rPr>
            </a:br>
            <a:r>
              <a:rPr lang="en-US" dirty="0">
                <a:solidFill>
                  <a:schemeClr val="bg1"/>
                </a:solidFill>
              </a:rPr>
              <a:t>Sumith Kumar Kurapati </a:t>
            </a:r>
            <a:br>
              <a:rPr lang="en-US" dirty="0">
                <a:solidFill>
                  <a:schemeClr val="bg1"/>
                </a:solidFill>
              </a:rPr>
            </a:br>
            <a:r>
              <a:rPr lang="en-US" dirty="0">
                <a:solidFill>
                  <a:schemeClr val="bg1"/>
                </a:solidFill>
              </a:rPr>
              <a:t>Kirti Moi Barua </a:t>
            </a:r>
            <a:endParaRPr lang="en-US" dirty="0">
              <a:solidFill>
                <a:schemeClr val="bg1"/>
              </a:solidFill>
              <a:latin typeface="Times New Roman" panose="02020603050405020304" pitchFamily="18" charset="0"/>
              <a:cs typeface="Times New Roman" panose="02020603050405020304" pitchFamily="18" charset="0"/>
            </a:endParaRPr>
          </a:p>
        </p:txBody>
      </p:sp>
      <p:cxnSp>
        <p:nvCxnSpPr>
          <p:cNvPr id="19" name="Straight Connector 18">
            <a:extLst>
              <a:ext uri="{FF2B5EF4-FFF2-40B4-BE49-F238E27FC236}">
                <a16:creationId xmlns:a16="http://schemas.microsoft.com/office/drawing/2014/main" id="{8F4E56A8-93D5-4BE3-AE61-84677331AD0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489855"/>
            <a:ext cx="11147071" cy="0"/>
          </a:xfrm>
          <a:prstGeom prst="line">
            <a:avLst/>
          </a:prstGeom>
          <a:ln w="28575">
            <a:solidFill>
              <a:srgbClr val="FFFFFF"/>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BD492A0C-1773-477B-83B5-C707CB05770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6368138"/>
            <a:ext cx="11147071" cy="0"/>
          </a:xfrm>
          <a:prstGeom prst="line">
            <a:avLst/>
          </a:prstGeom>
          <a:ln w="28575">
            <a:solidFill>
              <a:srgbClr val="FFFFFF"/>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2279598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E10520A-9368-D142-69CE-10A5581FF8DA}"/>
            </a:ext>
          </a:extLst>
        </p:cNvPr>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F341A495-6AF1-FFEE-DAA0-E512514020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 name="Straight Connector 40">
            <a:extLst>
              <a:ext uri="{FF2B5EF4-FFF2-40B4-BE49-F238E27FC236}">
                <a16:creationId xmlns:a16="http://schemas.microsoft.com/office/drawing/2014/main" id="{BD2FABDF-2249-C788-36B2-37A0A746A6D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489855"/>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pic>
        <p:nvPicPr>
          <p:cNvPr id="18" name="Picture 17" descr="Cloudy oil paint art">
            <a:extLst>
              <a:ext uri="{FF2B5EF4-FFF2-40B4-BE49-F238E27FC236}">
                <a16:creationId xmlns:a16="http://schemas.microsoft.com/office/drawing/2014/main" id="{3896189E-C939-C077-2F11-D40B2BA5D2C6}"/>
              </a:ext>
            </a:extLst>
          </p:cNvPr>
          <p:cNvPicPr>
            <a:picLocks noChangeAspect="1"/>
          </p:cNvPicPr>
          <p:nvPr/>
        </p:nvPicPr>
        <p:blipFill>
          <a:blip r:embed="rId2">
            <a:alphaModFix amt="20000"/>
          </a:blip>
          <a:srcRect r="35368" b="-3"/>
          <a:stretch/>
        </p:blipFill>
        <p:spPr>
          <a:xfrm>
            <a:off x="0" y="-1755"/>
            <a:ext cx="12192000" cy="6858000"/>
          </a:xfrm>
          <a:prstGeom prst="rect">
            <a:avLst/>
          </a:prstGeom>
        </p:spPr>
      </p:pic>
      <p:cxnSp>
        <p:nvCxnSpPr>
          <p:cNvPr id="43" name="Straight Connector 42">
            <a:extLst>
              <a:ext uri="{FF2B5EF4-FFF2-40B4-BE49-F238E27FC236}">
                <a16:creationId xmlns:a16="http://schemas.microsoft.com/office/drawing/2014/main" id="{8FD554D8-8A70-01CB-3221-CBF52DE376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6368138"/>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
        <p:nvSpPr>
          <p:cNvPr id="4" name="TextBox 3">
            <a:extLst>
              <a:ext uri="{FF2B5EF4-FFF2-40B4-BE49-F238E27FC236}">
                <a16:creationId xmlns:a16="http://schemas.microsoft.com/office/drawing/2014/main" id="{62BC9357-9B0C-96E4-5A98-334D48199ACC}"/>
              </a:ext>
            </a:extLst>
          </p:cNvPr>
          <p:cNvSpPr txBox="1"/>
          <p:nvPr/>
        </p:nvSpPr>
        <p:spPr>
          <a:xfrm>
            <a:off x="482600" y="1938334"/>
            <a:ext cx="11147071" cy="2308324"/>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Overview</a:t>
            </a:r>
            <a:r>
              <a:rPr lang="en-US" sz="2400" dirty="0">
                <a:latin typeface="Times New Roman" panose="02020603050405020304" pitchFamily="18" charset="0"/>
                <a:cs typeface="Times New Roman" panose="02020603050405020304" pitchFamily="18" charset="0"/>
              </a:rPr>
              <a:t>:</a:t>
            </a: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Xoxoday.com is an experiential gifting platform. Instead of gifting objects (mugs, vouchers, etc.), people and companies gift experiences—trips, activities, adventures, dining, wellness, etc. Founded in 2012 as a corporate gifting company, later expanded to experiential gifting and rebranded to </a:t>
            </a:r>
            <a:r>
              <a:rPr lang="en-US" sz="2400" dirty="0" err="1">
                <a:latin typeface="Times New Roman" panose="02020603050405020304" pitchFamily="18" charset="0"/>
                <a:cs typeface="Times New Roman" panose="02020603050405020304" pitchFamily="18" charset="0"/>
              </a:rPr>
              <a:t>Xoxoday</a:t>
            </a:r>
            <a:r>
              <a:rPr lang="en-US" sz="2400" dirty="0">
                <a:latin typeface="Times New Roman" panose="02020603050405020304" pitchFamily="18" charset="0"/>
                <a:cs typeface="Times New Roman" panose="02020603050405020304" pitchFamily="18" charset="0"/>
              </a:rPr>
              <a:t>. </a:t>
            </a:r>
          </a:p>
        </p:txBody>
      </p:sp>
      <p:sp>
        <p:nvSpPr>
          <p:cNvPr id="5" name="TextBox 4">
            <a:extLst>
              <a:ext uri="{FF2B5EF4-FFF2-40B4-BE49-F238E27FC236}">
                <a16:creationId xmlns:a16="http://schemas.microsoft.com/office/drawing/2014/main" id="{7585A3B5-BB10-9665-0721-F0E70BB1E014}"/>
              </a:ext>
            </a:extLst>
          </p:cNvPr>
          <p:cNvSpPr txBox="1"/>
          <p:nvPr/>
        </p:nvSpPr>
        <p:spPr>
          <a:xfrm>
            <a:off x="740229" y="543800"/>
            <a:ext cx="10733314"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Business Idea Overview</a:t>
            </a:r>
          </a:p>
        </p:txBody>
      </p:sp>
    </p:spTree>
    <p:extLst>
      <p:ext uri="{BB962C8B-B14F-4D97-AF65-F5344CB8AC3E}">
        <p14:creationId xmlns:p14="http://schemas.microsoft.com/office/powerpoint/2010/main" val="12273637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81B2680-63EE-A460-4214-441012AEEA6C}"/>
            </a:ext>
          </a:extLst>
        </p:cNvPr>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835A358A-E061-687B-2083-15EFE94F4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 name="Straight Connector 40">
            <a:extLst>
              <a:ext uri="{FF2B5EF4-FFF2-40B4-BE49-F238E27FC236}">
                <a16:creationId xmlns:a16="http://schemas.microsoft.com/office/drawing/2014/main" id="{7150A7E8-57A7-154F-FFFB-67A6669E6FD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489855"/>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pic>
        <p:nvPicPr>
          <p:cNvPr id="18" name="Picture 17" descr="Cloudy oil paint art">
            <a:extLst>
              <a:ext uri="{FF2B5EF4-FFF2-40B4-BE49-F238E27FC236}">
                <a16:creationId xmlns:a16="http://schemas.microsoft.com/office/drawing/2014/main" id="{091B1B5B-41A8-1604-EE39-D94F596D62D1}"/>
              </a:ext>
            </a:extLst>
          </p:cNvPr>
          <p:cNvPicPr>
            <a:picLocks noChangeAspect="1"/>
          </p:cNvPicPr>
          <p:nvPr/>
        </p:nvPicPr>
        <p:blipFill>
          <a:blip r:embed="rId2">
            <a:alphaModFix amt="20000"/>
          </a:blip>
          <a:srcRect r="35368" b="-3"/>
          <a:stretch/>
        </p:blipFill>
        <p:spPr>
          <a:xfrm>
            <a:off x="0" y="-12641"/>
            <a:ext cx="12192000" cy="6858000"/>
          </a:xfrm>
          <a:prstGeom prst="rect">
            <a:avLst/>
          </a:prstGeom>
        </p:spPr>
      </p:pic>
      <p:cxnSp>
        <p:nvCxnSpPr>
          <p:cNvPr id="43" name="Straight Connector 42">
            <a:extLst>
              <a:ext uri="{FF2B5EF4-FFF2-40B4-BE49-F238E27FC236}">
                <a16:creationId xmlns:a16="http://schemas.microsoft.com/office/drawing/2014/main" id="{97BDECE5-9CC3-5E3A-8EA0-5918C0C990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6368138"/>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
        <p:nvSpPr>
          <p:cNvPr id="4" name="TextBox 3">
            <a:extLst>
              <a:ext uri="{FF2B5EF4-FFF2-40B4-BE49-F238E27FC236}">
                <a16:creationId xmlns:a16="http://schemas.microsoft.com/office/drawing/2014/main" id="{55CD123F-477E-16EA-40A1-34DA6F8387B1}"/>
              </a:ext>
            </a:extLst>
          </p:cNvPr>
          <p:cNvSpPr txBox="1"/>
          <p:nvPr/>
        </p:nvSpPr>
        <p:spPr>
          <a:xfrm>
            <a:off x="54428" y="1354584"/>
            <a:ext cx="12083143" cy="4616648"/>
          </a:xfrm>
          <a:prstGeom prst="rect">
            <a:avLst/>
          </a:prstGeom>
          <a:noFill/>
        </p:spPr>
        <p:txBody>
          <a:bodyPr wrap="square" rtlCol="0">
            <a:spAutoFit/>
          </a:bodyPr>
          <a:lstStyle/>
          <a:p>
            <a:endParaRPr lang="en-US" sz="21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Supply side</a:t>
            </a:r>
            <a:r>
              <a:rPr lang="en-US" sz="2100" dirty="0">
                <a:latin typeface="Times New Roman" panose="02020603050405020304" pitchFamily="18" charset="0"/>
                <a:cs typeface="Times New Roman" panose="02020603050405020304" pitchFamily="18" charset="0"/>
              </a:rPr>
              <a:t>: </a:t>
            </a:r>
          </a:p>
          <a:p>
            <a:r>
              <a:rPr lang="en-US" sz="2100" dirty="0">
                <a:latin typeface="Times New Roman" panose="02020603050405020304" pitchFamily="18" charset="0"/>
                <a:cs typeface="Times New Roman" panose="02020603050405020304" pitchFamily="18" charset="0"/>
              </a:rPr>
              <a:t>     </a:t>
            </a:r>
            <a:r>
              <a:rPr lang="en-US" sz="2100" dirty="0" err="1">
                <a:latin typeface="Times New Roman" panose="02020603050405020304" pitchFamily="18" charset="0"/>
                <a:cs typeface="Times New Roman" panose="02020603050405020304" pitchFamily="18" charset="0"/>
              </a:rPr>
              <a:t>Xoxoday</a:t>
            </a:r>
            <a:r>
              <a:rPr lang="en-US" sz="2100" dirty="0">
                <a:latin typeface="Times New Roman" panose="02020603050405020304" pitchFamily="18" charset="0"/>
                <a:cs typeface="Times New Roman" panose="02020603050405020304" pitchFamily="18" charset="0"/>
              </a:rPr>
              <a:t> partners with brands and experience providers. They list experiences (location, price, availability).</a:t>
            </a:r>
          </a:p>
          <a:p>
            <a:endParaRPr lang="en-US" sz="21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Demand side	</a:t>
            </a:r>
            <a:r>
              <a:rPr lang="en-US" sz="2100" dirty="0">
                <a:latin typeface="Times New Roman" panose="02020603050405020304" pitchFamily="18" charset="0"/>
                <a:cs typeface="Times New Roman" panose="02020603050405020304" pitchFamily="18" charset="0"/>
              </a:rPr>
              <a:t>:</a:t>
            </a:r>
          </a:p>
          <a:p>
            <a:r>
              <a:rPr lang="en-US" sz="2100" dirty="0">
                <a:latin typeface="Times New Roman" panose="02020603050405020304" pitchFamily="18" charset="0"/>
                <a:cs typeface="Times New Roman" panose="02020603050405020304" pitchFamily="18" charset="0"/>
              </a:rPr>
              <a:t>     Corporations use </a:t>
            </a:r>
            <a:r>
              <a:rPr lang="en-US" sz="2100" dirty="0" err="1">
                <a:latin typeface="Times New Roman" panose="02020603050405020304" pitchFamily="18" charset="0"/>
                <a:cs typeface="Times New Roman" panose="02020603050405020304" pitchFamily="18" charset="0"/>
              </a:rPr>
              <a:t>Xoxoday</a:t>
            </a:r>
            <a:r>
              <a:rPr lang="en-US" sz="2100" dirty="0">
                <a:latin typeface="Times New Roman" panose="02020603050405020304" pitchFamily="18" charset="0"/>
                <a:cs typeface="Times New Roman" panose="02020603050405020304" pitchFamily="18" charset="0"/>
              </a:rPr>
              <a:t> for employee rewards, recognition, and contests.</a:t>
            </a:r>
          </a:p>
          <a:p>
            <a:endParaRPr lang="en-US" sz="21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Transaction model</a:t>
            </a:r>
            <a:r>
              <a:rPr lang="en-US" sz="2100" dirty="0">
                <a:latin typeface="Times New Roman" panose="02020603050405020304" pitchFamily="18" charset="0"/>
                <a:cs typeface="Times New Roman" panose="02020603050405020304" pitchFamily="18" charset="0"/>
              </a:rPr>
              <a:t>:  </a:t>
            </a:r>
          </a:p>
          <a:p>
            <a:r>
              <a:rPr lang="en-US" sz="2100" dirty="0">
                <a:latin typeface="Times New Roman" panose="02020603050405020304" pitchFamily="18" charset="0"/>
                <a:cs typeface="Times New Roman" panose="02020603050405020304" pitchFamily="18" charset="0"/>
              </a:rPr>
              <a:t>     Users buy experience voucher codes and providers fulfil the experience when the voucher is redeemed</a:t>
            </a:r>
          </a:p>
          <a:p>
            <a:endParaRPr lang="en-US" sz="21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100" b="1" dirty="0">
                <a:latin typeface="Times New Roman" panose="02020603050405020304" pitchFamily="18" charset="0"/>
                <a:cs typeface="Times New Roman" panose="02020603050405020304" pitchFamily="18" charset="0"/>
              </a:rPr>
              <a:t>Digital touchpoints</a:t>
            </a:r>
            <a:r>
              <a:rPr lang="en-US" sz="2100" dirty="0">
                <a:latin typeface="Times New Roman" panose="02020603050405020304" pitchFamily="18" charset="0"/>
                <a:cs typeface="Times New Roman" panose="02020603050405020304" pitchFamily="18" charset="0"/>
              </a:rPr>
              <a:t>:  </a:t>
            </a:r>
          </a:p>
          <a:p>
            <a:r>
              <a:rPr lang="en-US" sz="2100" dirty="0">
                <a:latin typeface="Times New Roman" panose="02020603050405020304" pitchFamily="18" charset="0"/>
                <a:cs typeface="Times New Roman" panose="02020603050405020304" pitchFamily="18" charset="0"/>
              </a:rPr>
              <a:t>     Website &amp; app: browsing and booking experiences.</a:t>
            </a:r>
          </a:p>
          <a:p>
            <a:r>
              <a:rPr lang="en-US" sz="2100" dirty="0">
                <a:latin typeface="Times New Roman" panose="02020603050405020304" pitchFamily="18" charset="0"/>
                <a:cs typeface="Times New Roman" panose="02020603050405020304" pitchFamily="18" charset="0"/>
              </a:rPr>
              <a:t>     APIs: used by travel agents / corporate systems.</a:t>
            </a:r>
          </a:p>
          <a:p>
            <a:r>
              <a:rPr lang="en-US" sz="2100" dirty="0">
                <a:latin typeface="Times New Roman" panose="02020603050405020304" pitchFamily="18" charset="0"/>
                <a:cs typeface="Times New Roman" panose="02020603050405020304" pitchFamily="18" charset="0"/>
              </a:rPr>
              <a:t>     Social media (Twitter, Facebook, etc. ) - Announcing new experiences &amp; contests, Branding &amp; storytelling.</a:t>
            </a:r>
          </a:p>
        </p:txBody>
      </p:sp>
      <p:sp>
        <p:nvSpPr>
          <p:cNvPr id="5" name="TextBox 4">
            <a:extLst>
              <a:ext uri="{FF2B5EF4-FFF2-40B4-BE49-F238E27FC236}">
                <a16:creationId xmlns:a16="http://schemas.microsoft.com/office/drawing/2014/main" id="{73998BC2-B6C8-4F98-3075-03C5020685A5}"/>
              </a:ext>
            </a:extLst>
          </p:cNvPr>
          <p:cNvSpPr txBox="1"/>
          <p:nvPr/>
        </p:nvSpPr>
        <p:spPr>
          <a:xfrm>
            <a:off x="740229" y="543800"/>
            <a:ext cx="10733314"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HOW IT WORKS</a:t>
            </a:r>
          </a:p>
        </p:txBody>
      </p:sp>
    </p:spTree>
    <p:extLst>
      <p:ext uri="{BB962C8B-B14F-4D97-AF65-F5344CB8AC3E}">
        <p14:creationId xmlns:p14="http://schemas.microsoft.com/office/powerpoint/2010/main" val="18135916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E517625-F511-A0EB-4535-E8EA88AD368B}"/>
            </a:ext>
          </a:extLst>
        </p:cNvPr>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6719118D-0B97-54EE-ADF7-A8B807B86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 name="Straight Connector 40">
            <a:extLst>
              <a:ext uri="{FF2B5EF4-FFF2-40B4-BE49-F238E27FC236}">
                <a16:creationId xmlns:a16="http://schemas.microsoft.com/office/drawing/2014/main" id="{5979511C-53F2-6D3C-6708-F67E8F73DD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489855"/>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pic>
        <p:nvPicPr>
          <p:cNvPr id="18" name="Picture 17" descr="Cloudy oil paint art">
            <a:extLst>
              <a:ext uri="{FF2B5EF4-FFF2-40B4-BE49-F238E27FC236}">
                <a16:creationId xmlns:a16="http://schemas.microsoft.com/office/drawing/2014/main" id="{88A76EA0-A190-BC73-9F7D-1A4F36A7E90B}"/>
              </a:ext>
            </a:extLst>
          </p:cNvPr>
          <p:cNvPicPr>
            <a:picLocks noChangeAspect="1"/>
          </p:cNvPicPr>
          <p:nvPr/>
        </p:nvPicPr>
        <p:blipFill>
          <a:blip r:embed="rId2">
            <a:alphaModFix amt="20000"/>
          </a:blip>
          <a:srcRect r="35368" b="-3"/>
          <a:stretch/>
        </p:blipFill>
        <p:spPr>
          <a:xfrm>
            <a:off x="0" y="-12641"/>
            <a:ext cx="12192000" cy="6858000"/>
          </a:xfrm>
          <a:prstGeom prst="rect">
            <a:avLst/>
          </a:prstGeom>
        </p:spPr>
      </p:pic>
      <p:cxnSp>
        <p:nvCxnSpPr>
          <p:cNvPr id="43" name="Straight Connector 42">
            <a:extLst>
              <a:ext uri="{FF2B5EF4-FFF2-40B4-BE49-F238E27FC236}">
                <a16:creationId xmlns:a16="http://schemas.microsoft.com/office/drawing/2014/main" id="{F057C2D6-F09E-F7CC-5A3A-8D74304FC4F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6368138"/>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
        <p:nvSpPr>
          <p:cNvPr id="4" name="TextBox 3">
            <a:extLst>
              <a:ext uri="{FF2B5EF4-FFF2-40B4-BE49-F238E27FC236}">
                <a16:creationId xmlns:a16="http://schemas.microsoft.com/office/drawing/2014/main" id="{16240A25-2F3B-F038-2FED-F5BC39BCACD4}"/>
              </a:ext>
            </a:extLst>
          </p:cNvPr>
          <p:cNvSpPr txBox="1"/>
          <p:nvPr/>
        </p:nvSpPr>
        <p:spPr>
          <a:xfrm>
            <a:off x="0" y="1203297"/>
            <a:ext cx="12592280" cy="4370427"/>
          </a:xfrm>
          <a:prstGeom prst="rect">
            <a:avLst/>
          </a:prstGeom>
          <a:noFill/>
        </p:spPr>
        <p:txBody>
          <a:bodyPr wrap="square" rtlCol="0">
            <a:spAutoFit/>
          </a:bodyPr>
          <a:lstStyle/>
          <a:p>
            <a:endParaRPr lang="en-US" sz="28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For Corporate Customers</a:t>
            </a:r>
            <a:r>
              <a:rPr lang="en-US" sz="2400" dirty="0">
                <a:latin typeface="Times New Roman" panose="02020603050405020304" pitchFamily="18" charset="0"/>
                <a:cs typeface="Times New Roman" panose="02020603050405020304" pitchFamily="18" charset="0"/>
              </a:rPr>
              <a:t>:                                                                                                     </a:t>
            </a:r>
          </a:p>
          <a:p>
            <a:pPr marL="342900" indent="-34290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     Flexible Rewards &amp; </a:t>
            </a:r>
            <a:r>
              <a:rPr lang="en-US" sz="2000" b="1" dirty="0" err="1">
                <a:latin typeface="Times New Roman" panose="02020603050405020304" pitchFamily="18" charset="0"/>
                <a:cs typeface="Times New Roman" panose="02020603050405020304" pitchFamily="18" charset="0"/>
              </a:rPr>
              <a:t>Recognition</a:t>
            </a:r>
            <a:r>
              <a:rPr lang="en-US" sz="2000" dirty="0" err="1">
                <a:latin typeface="Times New Roman" panose="02020603050405020304" pitchFamily="18" charset="0"/>
                <a:cs typeface="Times New Roman" panose="02020603050405020304" pitchFamily="18" charset="0"/>
              </a:rPr>
              <a:t>:Instead</a:t>
            </a:r>
            <a:r>
              <a:rPr lang="en-US" sz="2000" dirty="0">
                <a:latin typeface="Times New Roman" panose="02020603050405020304" pitchFamily="18" charset="0"/>
                <a:cs typeface="Times New Roman" panose="02020603050405020304" pitchFamily="18" charset="0"/>
              </a:rPr>
              <a:t> of generic gift cards, employees choose from many curated experiences.</a:t>
            </a:r>
          </a:p>
          <a:p>
            <a:r>
              <a:rPr lang="en-US" sz="2000" b="1" dirty="0">
                <a:latin typeface="Times New Roman" panose="02020603050405020304" pitchFamily="18" charset="0"/>
                <a:cs typeface="Times New Roman" panose="02020603050405020304" pitchFamily="18" charset="0"/>
              </a:rPr>
              <a:t>     Higher perceived value &amp; motivation: </a:t>
            </a:r>
            <a:r>
              <a:rPr lang="en-US" sz="2000" dirty="0">
                <a:latin typeface="Times New Roman" panose="02020603050405020304" pitchFamily="18" charset="0"/>
                <a:cs typeface="Times New Roman" panose="02020603050405020304" pitchFamily="18" charset="0"/>
              </a:rPr>
              <a:t>Experiences are memorable and emotionally engaging.</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Simplified bulk management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Xoxoday</a:t>
            </a:r>
            <a:r>
              <a:rPr lang="en-US" sz="2000" dirty="0">
                <a:latin typeface="Times New Roman" panose="02020603050405020304" pitchFamily="18" charset="0"/>
                <a:cs typeface="Times New Roman" panose="02020603050405020304" pitchFamily="18" charset="0"/>
              </a:rPr>
              <a:t> handles procurement, fulfilment, and tech integration</a:t>
            </a:r>
            <a:r>
              <a:rPr lang="en-US" sz="2100" dirty="0">
                <a:latin typeface="Times New Roman" panose="02020603050405020304" pitchFamily="18" charset="0"/>
                <a:cs typeface="Times New Roman" panose="02020603050405020304" pitchFamily="18" charset="0"/>
              </a:rPr>
              <a:t>.</a:t>
            </a:r>
          </a:p>
          <a:p>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For End Consumers:</a:t>
            </a:r>
          </a:p>
          <a:p>
            <a:endParaRPr lang="en-US"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     Discoverability</a:t>
            </a:r>
            <a:r>
              <a:rPr lang="en-US" sz="2000" dirty="0">
                <a:latin typeface="Times New Roman" panose="02020603050405020304" pitchFamily="18" charset="0"/>
                <a:cs typeface="Times New Roman" panose="02020603050405020304" pitchFamily="18" charset="0"/>
              </a:rPr>
              <a:t>: Find curated, “offbeat” and unique experiences that are hard to discover alone</a:t>
            </a:r>
          </a:p>
          <a:p>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Convenience</a:t>
            </a:r>
            <a:r>
              <a:rPr lang="en-US" sz="2000" dirty="0">
                <a:latin typeface="Times New Roman" panose="02020603050405020304" pitchFamily="18" charset="0"/>
                <a:cs typeface="Times New Roman" panose="02020603050405020304" pitchFamily="18" charset="0"/>
              </a:rPr>
              <a:t>: Browse, pay, and gift experiences online or via the app.</a:t>
            </a:r>
          </a:p>
          <a:p>
            <a:r>
              <a:rPr lang="en-US" sz="200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Memorable gifting</a:t>
            </a:r>
            <a:r>
              <a:rPr lang="en-US" sz="2000" dirty="0">
                <a:latin typeface="Times New Roman" panose="02020603050405020304" pitchFamily="18" charset="0"/>
                <a:cs typeface="Times New Roman" panose="02020603050405020304" pitchFamily="18" charset="0"/>
              </a:rPr>
              <a:t>: Gifts are stories and memories, not just products</a:t>
            </a:r>
          </a:p>
          <a:p>
            <a:endParaRPr lang="en-US" sz="21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AF87D84-DCC7-B19F-B8F6-20A0B94766A6}"/>
              </a:ext>
            </a:extLst>
          </p:cNvPr>
          <p:cNvSpPr txBox="1"/>
          <p:nvPr/>
        </p:nvSpPr>
        <p:spPr>
          <a:xfrm>
            <a:off x="608027" y="523411"/>
            <a:ext cx="10733314"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VALUE PROPOSITION</a:t>
            </a:r>
          </a:p>
        </p:txBody>
      </p:sp>
    </p:spTree>
    <p:extLst>
      <p:ext uri="{BB962C8B-B14F-4D97-AF65-F5344CB8AC3E}">
        <p14:creationId xmlns:p14="http://schemas.microsoft.com/office/powerpoint/2010/main" val="32996273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2762538-E826-1B97-C0CE-06BE40E26C98}"/>
            </a:ext>
          </a:extLst>
        </p:cNvPr>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AF8C8C88-8D3A-CC5F-2EE5-C58A3591EE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 name="Straight Connector 40">
            <a:extLst>
              <a:ext uri="{FF2B5EF4-FFF2-40B4-BE49-F238E27FC236}">
                <a16:creationId xmlns:a16="http://schemas.microsoft.com/office/drawing/2014/main" id="{4E9841D3-9F1D-8752-1A4C-A6A1BBC06F9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489855"/>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pic>
        <p:nvPicPr>
          <p:cNvPr id="18" name="Picture 17" descr="Cloudy oil paint art">
            <a:extLst>
              <a:ext uri="{FF2B5EF4-FFF2-40B4-BE49-F238E27FC236}">
                <a16:creationId xmlns:a16="http://schemas.microsoft.com/office/drawing/2014/main" id="{01B80FB2-737D-27FB-5E42-7C8AC355F7E8}"/>
              </a:ext>
            </a:extLst>
          </p:cNvPr>
          <p:cNvPicPr>
            <a:picLocks noChangeAspect="1"/>
          </p:cNvPicPr>
          <p:nvPr/>
        </p:nvPicPr>
        <p:blipFill>
          <a:blip r:embed="rId2">
            <a:alphaModFix amt="20000"/>
          </a:blip>
          <a:srcRect r="35368" b="-3"/>
          <a:stretch/>
        </p:blipFill>
        <p:spPr>
          <a:xfrm>
            <a:off x="10886" y="0"/>
            <a:ext cx="12192000" cy="6858000"/>
          </a:xfrm>
          <a:prstGeom prst="rect">
            <a:avLst/>
          </a:prstGeom>
        </p:spPr>
      </p:pic>
      <p:cxnSp>
        <p:nvCxnSpPr>
          <p:cNvPr id="43" name="Straight Connector 42">
            <a:extLst>
              <a:ext uri="{FF2B5EF4-FFF2-40B4-BE49-F238E27FC236}">
                <a16:creationId xmlns:a16="http://schemas.microsoft.com/office/drawing/2014/main" id="{0909581B-47A8-0AB7-FADB-2AA7ED60DF4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6368138"/>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
        <p:nvSpPr>
          <p:cNvPr id="4" name="TextBox 3">
            <a:extLst>
              <a:ext uri="{FF2B5EF4-FFF2-40B4-BE49-F238E27FC236}">
                <a16:creationId xmlns:a16="http://schemas.microsoft.com/office/drawing/2014/main" id="{653B3B29-B6AC-9E91-5AC1-2751D1B908C3}"/>
              </a:ext>
            </a:extLst>
          </p:cNvPr>
          <p:cNvSpPr txBox="1"/>
          <p:nvPr/>
        </p:nvSpPr>
        <p:spPr>
          <a:xfrm>
            <a:off x="130061" y="1932284"/>
            <a:ext cx="11834257" cy="3447098"/>
          </a:xfrm>
          <a:prstGeom prst="rect">
            <a:avLst/>
          </a:prstGeom>
          <a:noFill/>
        </p:spPr>
        <p:txBody>
          <a:bodyPr wrap="square" rtlCol="0">
            <a:spAutoFit/>
          </a:bodyPr>
          <a:lstStyle/>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Strong base of repeat corporate clients, but weak new-customer acquisition. Social media activity is high (3 tweets/day, many likes/followers), but engagement (retweets, replies, click-throughs) is low. </a:t>
            </a:r>
          </a:p>
          <a:p>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After several years of operations, they held meetings to critique their social media strategy to find what was missing, indicating that their original approach was not working as planned</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According to the case background, a large portion of </a:t>
            </a:r>
            <a:r>
              <a:rPr lang="en-US" sz="2000" dirty="0" err="1">
                <a:latin typeface="Times New Roman" panose="02020603050405020304" pitchFamily="18" charset="0"/>
                <a:cs typeface="Times New Roman" panose="02020603050405020304" pitchFamily="18" charset="0"/>
              </a:rPr>
              <a:t>Xoxoday’s</a:t>
            </a:r>
            <a:r>
              <a:rPr lang="en-US" sz="2000" dirty="0">
                <a:latin typeface="Times New Roman" panose="02020603050405020304" pitchFamily="18" charset="0"/>
                <a:cs typeface="Times New Roman" panose="02020603050405020304" pitchFamily="18" charset="0"/>
              </a:rPr>
              <a:t> business came from repeat corporate clients rather than new users. That works for stability but severely limits growth potential — the company becomes reliant on a fixed client base rather than expanding via new customers.</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5EE304E6-D8B3-A283-1808-AB00BCA55FDF}"/>
              </a:ext>
            </a:extLst>
          </p:cNvPr>
          <p:cNvSpPr txBox="1"/>
          <p:nvPr/>
        </p:nvSpPr>
        <p:spPr>
          <a:xfrm>
            <a:off x="740229" y="543800"/>
            <a:ext cx="10733314"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WHERE IT STRUGGLED</a:t>
            </a:r>
          </a:p>
        </p:txBody>
      </p:sp>
    </p:spTree>
    <p:extLst>
      <p:ext uri="{BB962C8B-B14F-4D97-AF65-F5344CB8AC3E}">
        <p14:creationId xmlns:p14="http://schemas.microsoft.com/office/powerpoint/2010/main" val="25431669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F8FA38B-96EA-604C-A47D-72FFE29A9302}"/>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0AFACEC6-5FA9-08C4-D532-998529231A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B352D0E-056F-1745-DAA9-87BF063170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descr="Cloudy oil paint art">
            <a:extLst>
              <a:ext uri="{FF2B5EF4-FFF2-40B4-BE49-F238E27FC236}">
                <a16:creationId xmlns:a16="http://schemas.microsoft.com/office/drawing/2014/main" id="{5560D4AA-A880-62F6-3B0E-70FCEC64184E}"/>
              </a:ext>
            </a:extLst>
          </p:cNvPr>
          <p:cNvPicPr>
            <a:picLocks noChangeAspect="1"/>
          </p:cNvPicPr>
          <p:nvPr/>
        </p:nvPicPr>
        <p:blipFill>
          <a:blip r:embed="rId2">
            <a:alphaModFix amt="40000"/>
          </a:blip>
          <a:srcRect t="15246" r="-1" b="462"/>
          <a:stretch/>
        </p:blipFill>
        <p:spPr>
          <a:xfrm>
            <a:off x="20" y="10"/>
            <a:ext cx="12188932" cy="6857990"/>
          </a:xfrm>
          <a:prstGeom prst="rect">
            <a:avLst/>
          </a:prstGeom>
        </p:spPr>
      </p:pic>
      <p:sp>
        <p:nvSpPr>
          <p:cNvPr id="2" name="Title 1">
            <a:extLst>
              <a:ext uri="{FF2B5EF4-FFF2-40B4-BE49-F238E27FC236}">
                <a16:creationId xmlns:a16="http://schemas.microsoft.com/office/drawing/2014/main" id="{47CC5893-2264-4012-CB66-4C01E4435827}"/>
              </a:ext>
            </a:extLst>
          </p:cNvPr>
          <p:cNvSpPr>
            <a:spLocks noGrp="1"/>
          </p:cNvSpPr>
          <p:nvPr>
            <p:ph type="ctrTitle"/>
          </p:nvPr>
        </p:nvSpPr>
        <p:spPr>
          <a:xfrm>
            <a:off x="241310" y="420392"/>
            <a:ext cx="11706352" cy="861997"/>
          </a:xfrm>
        </p:spPr>
        <p:txBody>
          <a:bodyPr anchor="t">
            <a:normAutofit/>
          </a:bodyPr>
          <a:lstStyle/>
          <a:p>
            <a:pPr algn="ctr"/>
            <a:r>
              <a:rPr lang="en-US" sz="4400" b="1" dirty="0">
                <a:solidFill>
                  <a:schemeClr val="bg1"/>
                </a:solidFill>
              </a:rPr>
              <a:t>DATA VISUALIZATION</a:t>
            </a:r>
          </a:p>
        </p:txBody>
      </p:sp>
      <p:cxnSp>
        <p:nvCxnSpPr>
          <p:cNvPr id="19" name="Straight Connector 18">
            <a:extLst>
              <a:ext uri="{FF2B5EF4-FFF2-40B4-BE49-F238E27FC236}">
                <a16:creationId xmlns:a16="http://schemas.microsoft.com/office/drawing/2014/main" id="{CA66BA0A-C91E-98BA-4901-6335D2E3BD6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489855"/>
            <a:ext cx="11147071" cy="0"/>
          </a:xfrm>
          <a:prstGeom prst="line">
            <a:avLst/>
          </a:prstGeom>
          <a:ln w="28575">
            <a:solidFill>
              <a:srgbClr val="FFFFFF"/>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98C2CB4C-5AD5-1B64-45DD-5F332346FA7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6368138"/>
            <a:ext cx="11147071" cy="0"/>
          </a:xfrm>
          <a:prstGeom prst="line">
            <a:avLst/>
          </a:prstGeom>
          <a:ln w="28575">
            <a:solidFill>
              <a:srgbClr val="FFFFFF"/>
            </a:solidFill>
          </a:ln>
        </p:spPr>
        <p:style>
          <a:lnRef idx="1">
            <a:schemeClr val="dk1"/>
          </a:lnRef>
          <a:fillRef idx="0">
            <a:schemeClr val="dk1"/>
          </a:fillRef>
          <a:effectRef idx="0">
            <a:schemeClr val="dk1"/>
          </a:effectRef>
          <a:fontRef idx="minor">
            <a:schemeClr val="tx1"/>
          </a:fontRef>
        </p:style>
      </p:cxnSp>
      <p:sp>
        <p:nvSpPr>
          <p:cNvPr id="5" name="Subtitle 4">
            <a:extLst>
              <a:ext uri="{FF2B5EF4-FFF2-40B4-BE49-F238E27FC236}">
                <a16:creationId xmlns:a16="http://schemas.microsoft.com/office/drawing/2014/main" id="{E36102A6-1204-AAFE-AA28-20FDB2C5FBF2}"/>
              </a:ext>
            </a:extLst>
          </p:cNvPr>
          <p:cNvSpPr>
            <a:spLocks noGrp="1"/>
          </p:cNvSpPr>
          <p:nvPr>
            <p:ph type="subTitle" idx="1"/>
          </p:nvPr>
        </p:nvSpPr>
        <p:spPr>
          <a:xfrm>
            <a:off x="6096001" y="1819890"/>
            <a:ext cx="5769165" cy="4742222"/>
          </a:xfrm>
        </p:spPr>
        <p:txBody>
          <a:bodyPr>
            <a:normAutofit/>
          </a:bodyPr>
          <a:lstStyle/>
          <a:p>
            <a:pPr marL="342900" indent="-342900">
              <a:buFont typeface="Arial" panose="020B0604020202020204" pitchFamily="34" charset="0"/>
              <a:buChar char="•"/>
            </a:pPr>
            <a:r>
              <a:rPr lang="en-US" sz="2100" dirty="0">
                <a:solidFill>
                  <a:schemeClr val="bg1"/>
                </a:solidFill>
                <a:latin typeface="Times New Roman" panose="02020603050405020304" pitchFamily="18" charset="0"/>
                <a:cs typeface="Times New Roman" panose="02020603050405020304" pitchFamily="18" charset="0"/>
              </a:rPr>
              <a:t>This heatmap shows the best times for </a:t>
            </a:r>
            <a:r>
              <a:rPr lang="en-US" sz="2100" dirty="0" err="1">
                <a:solidFill>
                  <a:schemeClr val="bg1"/>
                </a:solidFill>
                <a:latin typeface="Times New Roman" panose="02020603050405020304" pitchFamily="18" charset="0"/>
                <a:cs typeface="Times New Roman" panose="02020603050405020304" pitchFamily="18" charset="0"/>
              </a:rPr>
              <a:t>Xoxoday</a:t>
            </a:r>
            <a:r>
              <a:rPr lang="en-US" sz="2100" dirty="0">
                <a:solidFill>
                  <a:schemeClr val="bg1"/>
                </a:solidFill>
                <a:latin typeface="Times New Roman" panose="02020603050405020304" pitchFamily="18" charset="0"/>
                <a:cs typeface="Times New Roman" panose="02020603050405020304" pitchFamily="18" charset="0"/>
              </a:rPr>
              <a:t> they posted on social media based on engagement levels across different days of the week and times of day.</a:t>
            </a:r>
          </a:p>
          <a:p>
            <a:pPr marL="342900" indent="-342900">
              <a:buFont typeface="Arial" panose="020B0604020202020204" pitchFamily="34" charset="0"/>
              <a:buChar char="•"/>
            </a:pPr>
            <a:endParaRPr lang="en-US" sz="2100" b="1" dirty="0">
              <a:solidFill>
                <a:schemeClr val="bg1"/>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100" dirty="0">
                <a:solidFill>
                  <a:schemeClr val="bg2"/>
                </a:solidFill>
                <a:latin typeface="Times New Roman" panose="02020603050405020304" pitchFamily="18" charset="0"/>
                <a:cs typeface="Times New Roman" panose="02020603050405020304" pitchFamily="18" charset="0"/>
              </a:rPr>
              <a:t>Each color represents engagement intensity — lighter shades show lower engagement, while darker orange and red shades represent higher engagement.</a:t>
            </a:r>
          </a:p>
        </p:txBody>
      </p:sp>
      <p:pic>
        <p:nvPicPr>
          <p:cNvPr id="6" name="Picture 5">
            <a:extLst>
              <a:ext uri="{FF2B5EF4-FFF2-40B4-BE49-F238E27FC236}">
                <a16:creationId xmlns:a16="http://schemas.microsoft.com/office/drawing/2014/main" id="{C0CF1087-86AC-81FB-D8F7-D4C93378A884}"/>
              </a:ext>
            </a:extLst>
          </p:cNvPr>
          <p:cNvPicPr>
            <a:picLocks noChangeAspect="1"/>
          </p:cNvPicPr>
          <p:nvPr/>
        </p:nvPicPr>
        <p:blipFill>
          <a:blip r:embed="rId3"/>
          <a:stretch>
            <a:fillRect/>
          </a:stretch>
        </p:blipFill>
        <p:spPr>
          <a:xfrm>
            <a:off x="912162" y="1282388"/>
            <a:ext cx="4739491" cy="4934579"/>
          </a:xfrm>
          <a:prstGeom prst="rect">
            <a:avLst/>
          </a:prstGeom>
        </p:spPr>
      </p:pic>
    </p:spTree>
    <p:extLst>
      <p:ext uri="{BB962C8B-B14F-4D97-AF65-F5344CB8AC3E}">
        <p14:creationId xmlns:p14="http://schemas.microsoft.com/office/powerpoint/2010/main" val="40577995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F0CBBE4-C431-0425-CBC9-7B7723680185}"/>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7B34FBD9-48C6-8036-88D6-67D671AE5E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69F4F60-2B3E-D4E4-7A51-63576FB92E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descr="Cloudy oil paint art">
            <a:extLst>
              <a:ext uri="{FF2B5EF4-FFF2-40B4-BE49-F238E27FC236}">
                <a16:creationId xmlns:a16="http://schemas.microsoft.com/office/drawing/2014/main" id="{D95D86CC-F62E-A0D7-6A4C-12371393DEF6}"/>
              </a:ext>
            </a:extLst>
          </p:cNvPr>
          <p:cNvPicPr>
            <a:picLocks noChangeAspect="1"/>
          </p:cNvPicPr>
          <p:nvPr/>
        </p:nvPicPr>
        <p:blipFill>
          <a:blip r:embed="rId2">
            <a:alphaModFix amt="40000"/>
          </a:blip>
          <a:srcRect t="15246" r="-1" b="462"/>
          <a:stretch/>
        </p:blipFill>
        <p:spPr>
          <a:xfrm>
            <a:off x="20" y="10"/>
            <a:ext cx="12188932" cy="6857990"/>
          </a:xfrm>
          <a:prstGeom prst="rect">
            <a:avLst/>
          </a:prstGeom>
        </p:spPr>
      </p:pic>
      <p:sp>
        <p:nvSpPr>
          <p:cNvPr id="2" name="Title 1">
            <a:extLst>
              <a:ext uri="{FF2B5EF4-FFF2-40B4-BE49-F238E27FC236}">
                <a16:creationId xmlns:a16="http://schemas.microsoft.com/office/drawing/2014/main" id="{7EA82EE6-0914-A06B-3D41-4E5EF4B34E96}"/>
              </a:ext>
            </a:extLst>
          </p:cNvPr>
          <p:cNvSpPr>
            <a:spLocks noGrp="1"/>
          </p:cNvSpPr>
          <p:nvPr>
            <p:ph type="ctrTitle"/>
          </p:nvPr>
        </p:nvSpPr>
        <p:spPr>
          <a:xfrm>
            <a:off x="241310" y="420392"/>
            <a:ext cx="11706352" cy="861997"/>
          </a:xfrm>
        </p:spPr>
        <p:txBody>
          <a:bodyPr anchor="t">
            <a:normAutofit/>
          </a:bodyPr>
          <a:lstStyle/>
          <a:p>
            <a:pPr algn="ctr"/>
            <a:r>
              <a:rPr lang="en-US" sz="4400" b="1" dirty="0">
                <a:solidFill>
                  <a:schemeClr val="bg1"/>
                </a:solidFill>
              </a:rPr>
              <a:t>DATA VISUALIZATION</a:t>
            </a:r>
          </a:p>
        </p:txBody>
      </p:sp>
      <p:cxnSp>
        <p:nvCxnSpPr>
          <p:cNvPr id="19" name="Straight Connector 18">
            <a:extLst>
              <a:ext uri="{FF2B5EF4-FFF2-40B4-BE49-F238E27FC236}">
                <a16:creationId xmlns:a16="http://schemas.microsoft.com/office/drawing/2014/main" id="{CB6B8196-F184-19CB-C630-58541A037E1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489855"/>
            <a:ext cx="11147071" cy="0"/>
          </a:xfrm>
          <a:prstGeom prst="line">
            <a:avLst/>
          </a:prstGeom>
          <a:ln w="28575">
            <a:solidFill>
              <a:srgbClr val="FFFFFF"/>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B10F9B82-1B6B-4755-C376-AD0491FE070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6368138"/>
            <a:ext cx="11147071" cy="0"/>
          </a:xfrm>
          <a:prstGeom prst="line">
            <a:avLst/>
          </a:prstGeom>
          <a:ln w="28575">
            <a:solidFill>
              <a:srgbClr val="FFFFFF"/>
            </a:solidFill>
          </a:ln>
        </p:spPr>
        <p:style>
          <a:lnRef idx="1">
            <a:schemeClr val="dk1"/>
          </a:lnRef>
          <a:fillRef idx="0">
            <a:schemeClr val="dk1"/>
          </a:fillRef>
          <a:effectRef idx="0">
            <a:schemeClr val="dk1"/>
          </a:effectRef>
          <a:fontRef idx="minor">
            <a:schemeClr val="tx1"/>
          </a:fontRef>
        </p:style>
      </p:cxnSp>
      <p:sp>
        <p:nvSpPr>
          <p:cNvPr id="5" name="Subtitle 4">
            <a:extLst>
              <a:ext uri="{FF2B5EF4-FFF2-40B4-BE49-F238E27FC236}">
                <a16:creationId xmlns:a16="http://schemas.microsoft.com/office/drawing/2014/main" id="{5085374D-12D9-D205-F0C0-D73223E8C067}"/>
              </a:ext>
            </a:extLst>
          </p:cNvPr>
          <p:cNvSpPr>
            <a:spLocks noGrp="1"/>
          </p:cNvSpPr>
          <p:nvPr>
            <p:ph type="subTitle" idx="1"/>
          </p:nvPr>
        </p:nvSpPr>
        <p:spPr>
          <a:xfrm>
            <a:off x="6860979" y="1598128"/>
            <a:ext cx="4858864" cy="3977477"/>
          </a:xfrm>
        </p:spPr>
        <p:txBody>
          <a:bodyPr>
            <a:normAutofit/>
          </a:bodyPr>
          <a:lstStyle/>
          <a:p>
            <a:pPr marL="457200" indent="-457200">
              <a:buFont typeface="Arial" panose="020B0604020202020204" pitchFamily="34" charset="0"/>
              <a:buChar char="•"/>
            </a:pPr>
            <a:r>
              <a:rPr lang="en-US" dirty="0">
                <a:solidFill>
                  <a:schemeClr val="bg2"/>
                </a:solidFill>
              </a:rPr>
              <a:t>This scatter plot shows how the number of hashtags used in a </a:t>
            </a:r>
            <a:r>
              <a:rPr lang="en-US" dirty="0" err="1">
                <a:solidFill>
                  <a:schemeClr val="bg2"/>
                </a:solidFill>
              </a:rPr>
              <a:t>Xoxoday</a:t>
            </a:r>
            <a:r>
              <a:rPr lang="en-US" dirty="0">
                <a:solidFill>
                  <a:schemeClr val="bg2"/>
                </a:solidFill>
              </a:rPr>
              <a:t> tweet is related to the engagement it receives — measured as likes plus retweets. Each point represents a tweet, and the line shows the overall trend</a:t>
            </a:r>
          </a:p>
        </p:txBody>
      </p:sp>
      <p:pic>
        <p:nvPicPr>
          <p:cNvPr id="6" name="Picture 5">
            <a:extLst>
              <a:ext uri="{FF2B5EF4-FFF2-40B4-BE49-F238E27FC236}">
                <a16:creationId xmlns:a16="http://schemas.microsoft.com/office/drawing/2014/main" id="{4D8C55F0-1481-716B-A2B7-CDAA6880B7CA}"/>
              </a:ext>
            </a:extLst>
          </p:cNvPr>
          <p:cNvPicPr>
            <a:picLocks noChangeAspect="1"/>
          </p:cNvPicPr>
          <p:nvPr/>
        </p:nvPicPr>
        <p:blipFill>
          <a:blip r:embed="rId3"/>
          <a:stretch>
            <a:fillRect/>
          </a:stretch>
        </p:blipFill>
        <p:spPr>
          <a:xfrm>
            <a:off x="1533006" y="1282389"/>
            <a:ext cx="4858865" cy="4858865"/>
          </a:xfrm>
          <a:prstGeom prst="rect">
            <a:avLst/>
          </a:prstGeom>
        </p:spPr>
      </p:pic>
    </p:spTree>
    <p:extLst>
      <p:ext uri="{BB962C8B-B14F-4D97-AF65-F5344CB8AC3E}">
        <p14:creationId xmlns:p14="http://schemas.microsoft.com/office/powerpoint/2010/main" val="20349909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B670B72-2964-9790-B540-FE5A5ABF7F24}"/>
            </a:ext>
          </a:extLst>
        </p:cNvPr>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01D3702B-B43E-BCE6-0824-04FB30CCC9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 name="Straight Connector 40">
            <a:extLst>
              <a:ext uri="{FF2B5EF4-FFF2-40B4-BE49-F238E27FC236}">
                <a16:creationId xmlns:a16="http://schemas.microsoft.com/office/drawing/2014/main" id="{E58DC186-8706-1809-FD3F-6FD04CEEF88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489855"/>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pic>
        <p:nvPicPr>
          <p:cNvPr id="18" name="Picture 17" descr="Cloudy oil paint art">
            <a:extLst>
              <a:ext uri="{FF2B5EF4-FFF2-40B4-BE49-F238E27FC236}">
                <a16:creationId xmlns:a16="http://schemas.microsoft.com/office/drawing/2014/main" id="{093B9939-FE58-FB10-0379-91EEB6A8264F}"/>
              </a:ext>
            </a:extLst>
          </p:cNvPr>
          <p:cNvPicPr>
            <a:picLocks noChangeAspect="1"/>
          </p:cNvPicPr>
          <p:nvPr/>
        </p:nvPicPr>
        <p:blipFill>
          <a:blip r:embed="rId2">
            <a:alphaModFix amt="20000"/>
          </a:blip>
          <a:srcRect r="35368" b="-3"/>
          <a:stretch/>
        </p:blipFill>
        <p:spPr>
          <a:xfrm>
            <a:off x="0" y="-12641"/>
            <a:ext cx="12192000" cy="6858000"/>
          </a:xfrm>
          <a:prstGeom prst="rect">
            <a:avLst/>
          </a:prstGeom>
        </p:spPr>
      </p:pic>
      <p:cxnSp>
        <p:nvCxnSpPr>
          <p:cNvPr id="43" name="Straight Connector 42">
            <a:extLst>
              <a:ext uri="{FF2B5EF4-FFF2-40B4-BE49-F238E27FC236}">
                <a16:creationId xmlns:a16="http://schemas.microsoft.com/office/drawing/2014/main" id="{9EF3333A-891A-5C8B-AB79-AE8CE385327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6368138"/>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
        <p:nvSpPr>
          <p:cNvPr id="4" name="TextBox 3">
            <a:extLst>
              <a:ext uri="{FF2B5EF4-FFF2-40B4-BE49-F238E27FC236}">
                <a16:creationId xmlns:a16="http://schemas.microsoft.com/office/drawing/2014/main" id="{FA79D969-2B19-36A4-4925-9D898DA810D2}"/>
              </a:ext>
            </a:extLst>
          </p:cNvPr>
          <p:cNvSpPr txBox="1"/>
          <p:nvPr/>
        </p:nvSpPr>
        <p:spPr>
          <a:xfrm>
            <a:off x="482600" y="1387295"/>
            <a:ext cx="11569853" cy="5262979"/>
          </a:xfrm>
          <a:prstGeom prst="rect">
            <a:avLst/>
          </a:prstGeom>
          <a:noFill/>
        </p:spPr>
        <p:txBody>
          <a:bodyPr wrap="square" rtlCol="0">
            <a:spAutoFit/>
          </a:bodyPr>
          <a:lstStyle/>
          <a:p>
            <a:r>
              <a:rPr lang="en-US" sz="2100" b="1" dirty="0">
                <a:latin typeface="Times New Roman" panose="02020603050405020304" pitchFamily="18" charset="0"/>
                <a:cs typeface="Times New Roman" panose="02020603050405020304" pitchFamily="18" charset="0"/>
              </a:rPr>
              <a:t>1. Descriptive Analysis</a:t>
            </a:r>
          </a:p>
          <a:p>
            <a:r>
              <a:rPr lang="en-US" sz="2100" dirty="0">
                <a:latin typeface="Times New Roman" panose="02020603050405020304" pitchFamily="18" charset="0"/>
                <a:cs typeface="Times New Roman" panose="02020603050405020304" pitchFamily="18" charset="0"/>
              </a:rPr>
              <a:t>       Type: Exploratory statistical method used to summarize and understand data patterns</a:t>
            </a:r>
          </a:p>
          <a:p>
            <a:r>
              <a:rPr lang="en-US" sz="2100" dirty="0">
                <a:latin typeface="Times New Roman" panose="02020603050405020304" pitchFamily="18" charset="0"/>
                <a:cs typeface="Times New Roman" panose="02020603050405020304" pitchFamily="18" charset="0"/>
              </a:rPr>
              <a:t>       Strengths: Provides clear insights into average engagement levels (likes, retweets, replies).</a:t>
            </a:r>
          </a:p>
          <a:p>
            <a:r>
              <a:rPr lang="en-US" sz="2100" dirty="0">
                <a:latin typeface="Times New Roman" panose="02020603050405020304" pitchFamily="18" charset="0"/>
                <a:cs typeface="Times New Roman" panose="02020603050405020304" pitchFamily="18" charset="0"/>
              </a:rPr>
              <a:t>       Helps detect overall trends such as the impact of images and hashtag usage.</a:t>
            </a:r>
          </a:p>
          <a:p>
            <a:endParaRPr lang="en-US" sz="2100" dirty="0">
              <a:latin typeface="Times New Roman" panose="02020603050405020304" pitchFamily="18" charset="0"/>
              <a:cs typeface="Times New Roman" panose="02020603050405020304" pitchFamily="18" charset="0"/>
            </a:endParaRPr>
          </a:p>
          <a:p>
            <a:r>
              <a:rPr lang="en-US" sz="2100" b="1" dirty="0">
                <a:latin typeface="Times New Roman" panose="02020603050405020304" pitchFamily="18" charset="0"/>
                <a:cs typeface="Times New Roman" panose="02020603050405020304" pitchFamily="18" charset="0"/>
              </a:rPr>
              <a:t>2. Correlation Analysis</a:t>
            </a:r>
          </a:p>
          <a:p>
            <a:r>
              <a:rPr lang="en-US" sz="2100" dirty="0">
                <a:latin typeface="Times New Roman" panose="02020603050405020304" pitchFamily="18" charset="0"/>
                <a:cs typeface="Times New Roman" panose="02020603050405020304" pitchFamily="18" charset="0"/>
              </a:rPr>
              <a:t>       Type:  Statistical technique used to measure the strength of relationships between variables.</a:t>
            </a:r>
          </a:p>
          <a:p>
            <a:r>
              <a:rPr lang="en-US" sz="2100" dirty="0">
                <a:latin typeface="Times New Roman" panose="02020603050405020304" pitchFamily="18" charset="0"/>
                <a:cs typeface="Times New Roman" panose="02020603050405020304" pitchFamily="18" charset="0"/>
              </a:rPr>
              <a:t>       Strengths: Helps understand which factors (hashtags, timing) most influence engagement.</a:t>
            </a:r>
          </a:p>
          <a:p>
            <a:r>
              <a:rPr lang="en-US" sz="2100" dirty="0">
                <a:latin typeface="Times New Roman" panose="02020603050405020304" pitchFamily="18" charset="0"/>
                <a:cs typeface="Times New Roman" panose="02020603050405020304" pitchFamily="18" charset="0"/>
              </a:rPr>
              <a:t>                        Visual tools like heatmaps make patterns easy to interpret.</a:t>
            </a:r>
          </a:p>
          <a:p>
            <a:endParaRPr lang="en-US" sz="2100" dirty="0">
              <a:latin typeface="Times New Roman" panose="02020603050405020304" pitchFamily="18" charset="0"/>
              <a:cs typeface="Times New Roman" panose="02020603050405020304" pitchFamily="18" charset="0"/>
            </a:endParaRPr>
          </a:p>
          <a:p>
            <a:r>
              <a:rPr lang="en-US" sz="2100" b="1" dirty="0">
                <a:latin typeface="Times New Roman" panose="02020603050405020304" pitchFamily="18" charset="0"/>
                <a:cs typeface="Times New Roman" panose="02020603050405020304" pitchFamily="18" charset="0"/>
              </a:rPr>
              <a:t>3. K-Means Clustering</a:t>
            </a:r>
          </a:p>
          <a:p>
            <a:r>
              <a:rPr lang="en-US" sz="2100" dirty="0">
                <a:latin typeface="Times New Roman" panose="02020603050405020304" pitchFamily="18" charset="0"/>
                <a:cs typeface="Times New Roman" panose="02020603050405020304" pitchFamily="18" charset="0"/>
              </a:rPr>
              <a:t>       Type: Unsupervised ML algorithm - groups similar tweets based on engagement and content features.</a:t>
            </a:r>
          </a:p>
          <a:p>
            <a:r>
              <a:rPr lang="en-US" sz="2100" dirty="0">
                <a:latin typeface="Times New Roman" panose="02020603050405020304" pitchFamily="18" charset="0"/>
                <a:cs typeface="Times New Roman" panose="02020603050405020304" pitchFamily="18" charset="0"/>
              </a:rPr>
              <a:t>       Strengths: Reveals natural tweet categories such as high-, medium-, and low-engagement clusters.</a:t>
            </a:r>
          </a:p>
          <a:p>
            <a:r>
              <a:rPr lang="en-US" sz="2100" dirty="0">
                <a:latin typeface="Times New Roman" panose="02020603050405020304" pitchFamily="18" charset="0"/>
                <a:cs typeface="Times New Roman" panose="02020603050405020304" pitchFamily="18" charset="0"/>
              </a:rPr>
              <a:t>                        Simplifies complex data into understandable segments.</a:t>
            </a:r>
          </a:p>
          <a:p>
            <a:r>
              <a:rPr lang="en-US" sz="2100" dirty="0">
                <a:latin typeface="Times New Roman" panose="02020603050405020304" pitchFamily="18" charset="0"/>
                <a:cs typeface="Times New Roman" panose="02020603050405020304" pitchFamily="18" charset="0"/>
              </a:rPr>
              <a:t>      </a:t>
            </a:r>
          </a:p>
          <a:p>
            <a:r>
              <a:rPr lang="en-US" sz="2100" dirty="0">
                <a:latin typeface="Times New Roman" panose="02020603050405020304" pitchFamily="18" charset="0"/>
                <a:cs typeface="Times New Roman" panose="02020603050405020304" pitchFamily="18" charset="0"/>
              </a:rPr>
              <a:t>       </a:t>
            </a:r>
          </a:p>
        </p:txBody>
      </p:sp>
      <p:sp>
        <p:nvSpPr>
          <p:cNvPr id="5" name="TextBox 4">
            <a:extLst>
              <a:ext uri="{FF2B5EF4-FFF2-40B4-BE49-F238E27FC236}">
                <a16:creationId xmlns:a16="http://schemas.microsoft.com/office/drawing/2014/main" id="{93C43D61-62B9-D04F-6F3F-AB4A8CE7FCE9}"/>
              </a:ext>
            </a:extLst>
          </p:cNvPr>
          <p:cNvSpPr txBox="1"/>
          <p:nvPr/>
        </p:nvSpPr>
        <p:spPr>
          <a:xfrm>
            <a:off x="740229" y="543800"/>
            <a:ext cx="10733314"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SUMMARY FOR MODELS</a:t>
            </a:r>
          </a:p>
        </p:txBody>
      </p:sp>
    </p:spTree>
    <p:extLst>
      <p:ext uri="{BB962C8B-B14F-4D97-AF65-F5344CB8AC3E}">
        <p14:creationId xmlns:p14="http://schemas.microsoft.com/office/powerpoint/2010/main" val="12313559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96ED785-2548-5D09-AE53-FCD8C7DF6AB9}"/>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3546B4E2-5999-57B2-FBED-B5B636424B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1C44436-C58D-813E-1538-76F503CF0C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descr="Cloudy oil paint art">
            <a:extLst>
              <a:ext uri="{FF2B5EF4-FFF2-40B4-BE49-F238E27FC236}">
                <a16:creationId xmlns:a16="http://schemas.microsoft.com/office/drawing/2014/main" id="{C11335D3-DBE0-A470-B1FD-8701A6499806}"/>
              </a:ext>
            </a:extLst>
          </p:cNvPr>
          <p:cNvPicPr>
            <a:picLocks noChangeAspect="1"/>
          </p:cNvPicPr>
          <p:nvPr/>
        </p:nvPicPr>
        <p:blipFill>
          <a:blip r:embed="rId3">
            <a:alphaModFix amt="40000"/>
          </a:blip>
          <a:srcRect t="15246" r="-1" b="462"/>
          <a:stretch/>
        </p:blipFill>
        <p:spPr>
          <a:xfrm>
            <a:off x="0" y="10"/>
            <a:ext cx="12188932" cy="6857990"/>
          </a:xfrm>
          <a:prstGeom prst="rect">
            <a:avLst/>
          </a:prstGeom>
        </p:spPr>
      </p:pic>
      <p:sp>
        <p:nvSpPr>
          <p:cNvPr id="2" name="Title 1">
            <a:extLst>
              <a:ext uri="{FF2B5EF4-FFF2-40B4-BE49-F238E27FC236}">
                <a16:creationId xmlns:a16="http://schemas.microsoft.com/office/drawing/2014/main" id="{DC85DE05-DFCB-A917-30D6-F60E6688EF07}"/>
              </a:ext>
            </a:extLst>
          </p:cNvPr>
          <p:cNvSpPr>
            <a:spLocks noGrp="1"/>
          </p:cNvSpPr>
          <p:nvPr>
            <p:ph type="ctrTitle"/>
          </p:nvPr>
        </p:nvSpPr>
        <p:spPr>
          <a:xfrm>
            <a:off x="241310" y="536022"/>
            <a:ext cx="11706352" cy="746367"/>
          </a:xfrm>
        </p:spPr>
        <p:txBody>
          <a:bodyPr anchor="t">
            <a:normAutofit fontScale="90000"/>
          </a:bodyPr>
          <a:lstStyle/>
          <a:p>
            <a:pPr algn="ctr"/>
            <a:r>
              <a:rPr lang="en-US" sz="4400" b="1" dirty="0">
                <a:solidFill>
                  <a:schemeClr val="bg2"/>
                </a:solidFill>
              </a:rPr>
              <a:t>DESCRIPTIVE ANALYSIS</a:t>
            </a:r>
          </a:p>
        </p:txBody>
      </p:sp>
      <p:cxnSp>
        <p:nvCxnSpPr>
          <p:cNvPr id="19" name="Straight Connector 18">
            <a:extLst>
              <a:ext uri="{FF2B5EF4-FFF2-40B4-BE49-F238E27FC236}">
                <a16:creationId xmlns:a16="http://schemas.microsoft.com/office/drawing/2014/main" id="{077C5D7D-0C45-D5BC-B64B-4A3514DD208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489855"/>
            <a:ext cx="11147071" cy="0"/>
          </a:xfrm>
          <a:prstGeom prst="line">
            <a:avLst/>
          </a:prstGeom>
          <a:ln w="28575">
            <a:solidFill>
              <a:srgbClr val="FFFFFF"/>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483405CE-4E12-42E2-8A3A-6AE2DEC96D2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6368138"/>
            <a:ext cx="11147071" cy="0"/>
          </a:xfrm>
          <a:prstGeom prst="line">
            <a:avLst/>
          </a:prstGeom>
          <a:ln w="28575">
            <a:solidFill>
              <a:srgbClr val="FFFFFF"/>
            </a:solidFill>
          </a:ln>
        </p:spPr>
        <p:style>
          <a:lnRef idx="1">
            <a:schemeClr val="dk1"/>
          </a:lnRef>
          <a:fillRef idx="0">
            <a:schemeClr val="dk1"/>
          </a:fillRef>
          <a:effectRef idx="0">
            <a:schemeClr val="dk1"/>
          </a:effectRef>
          <a:fontRef idx="minor">
            <a:schemeClr val="tx1"/>
          </a:fontRef>
        </p:style>
      </p:cxnSp>
      <p:sp>
        <p:nvSpPr>
          <p:cNvPr id="3" name="TextBox 2">
            <a:extLst>
              <a:ext uri="{FF2B5EF4-FFF2-40B4-BE49-F238E27FC236}">
                <a16:creationId xmlns:a16="http://schemas.microsoft.com/office/drawing/2014/main" id="{8CA8630B-801F-C9B6-F9AF-E8DD946C2431}"/>
              </a:ext>
            </a:extLst>
          </p:cNvPr>
          <p:cNvSpPr txBox="1"/>
          <p:nvPr/>
        </p:nvSpPr>
        <p:spPr>
          <a:xfrm>
            <a:off x="6451305" y="2409491"/>
            <a:ext cx="5497551" cy="3000821"/>
          </a:xfrm>
          <a:prstGeom prst="rect">
            <a:avLst/>
          </a:prstGeom>
          <a:noFill/>
        </p:spPr>
        <p:txBody>
          <a:bodyPr wrap="square" rtlCol="0">
            <a:spAutoFit/>
          </a:bodyPr>
          <a:lstStyle/>
          <a:p>
            <a:pPr marL="285750" indent="-285750">
              <a:buFont typeface="Arial" panose="020B0604020202020204" pitchFamily="34" charset="0"/>
              <a:buChar char="•"/>
            </a:pPr>
            <a:r>
              <a:rPr lang="en-US" sz="2100" dirty="0">
                <a:solidFill>
                  <a:schemeClr val="bg2"/>
                </a:solidFill>
                <a:latin typeface="Times New Roman" panose="02020603050405020304" pitchFamily="18" charset="0"/>
                <a:cs typeface="Times New Roman" panose="02020603050405020304" pitchFamily="18" charset="0"/>
              </a:rPr>
              <a:t>From the visualization, we see that </a:t>
            </a:r>
            <a:r>
              <a:rPr lang="en-US" sz="2100" dirty="0" err="1">
                <a:solidFill>
                  <a:schemeClr val="bg2"/>
                </a:solidFill>
                <a:latin typeface="Times New Roman" panose="02020603050405020304" pitchFamily="18" charset="0"/>
                <a:cs typeface="Times New Roman" panose="02020603050405020304" pitchFamily="18" charset="0"/>
              </a:rPr>
              <a:t>Xoxoday’s</a:t>
            </a:r>
            <a:r>
              <a:rPr lang="en-US" sz="2100" dirty="0">
                <a:solidFill>
                  <a:schemeClr val="bg2"/>
                </a:solidFill>
                <a:latin typeface="Times New Roman" panose="02020603050405020304" pitchFamily="18" charset="0"/>
                <a:cs typeface="Times New Roman" panose="02020603050405020304" pitchFamily="18" charset="0"/>
              </a:rPr>
              <a:t> tweets receive the highest engagement through likes, averaging around 828, followed by about 656 retweets and 425 replies</a:t>
            </a:r>
          </a:p>
          <a:p>
            <a:endParaRPr lang="en-US" sz="2100" dirty="0">
              <a:solidFill>
                <a:schemeClr val="bg2"/>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2100" dirty="0">
                <a:solidFill>
                  <a:schemeClr val="bg2"/>
                </a:solidFill>
                <a:latin typeface="Times New Roman" panose="02020603050405020304" pitchFamily="18" charset="0"/>
                <a:cs typeface="Times New Roman" panose="02020603050405020304" pitchFamily="18" charset="0"/>
              </a:rPr>
              <a:t>It shows that there is consistent engagement, but also opportunities to increase replies and retweets through more interactive or visually engaging posts</a:t>
            </a:r>
          </a:p>
        </p:txBody>
      </p:sp>
      <p:pic>
        <p:nvPicPr>
          <p:cNvPr id="10" name="Picture 9">
            <a:extLst>
              <a:ext uri="{FF2B5EF4-FFF2-40B4-BE49-F238E27FC236}">
                <a16:creationId xmlns:a16="http://schemas.microsoft.com/office/drawing/2014/main" id="{22C5BD86-F73E-C5A3-6BBE-2A35A58F56EC}"/>
              </a:ext>
            </a:extLst>
          </p:cNvPr>
          <p:cNvPicPr>
            <a:picLocks noChangeAspect="1"/>
          </p:cNvPicPr>
          <p:nvPr/>
        </p:nvPicPr>
        <p:blipFill>
          <a:blip r:embed="rId4"/>
          <a:stretch>
            <a:fillRect/>
          </a:stretch>
        </p:blipFill>
        <p:spPr>
          <a:xfrm>
            <a:off x="642538" y="1547518"/>
            <a:ext cx="5725324" cy="4220164"/>
          </a:xfrm>
          <a:prstGeom prst="rect">
            <a:avLst/>
          </a:prstGeom>
        </p:spPr>
      </p:pic>
    </p:spTree>
    <p:extLst>
      <p:ext uri="{BB962C8B-B14F-4D97-AF65-F5344CB8AC3E}">
        <p14:creationId xmlns:p14="http://schemas.microsoft.com/office/powerpoint/2010/main" val="30476874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4A975F7-CD7D-E938-2124-2436D3D726D6}"/>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724D807C-6842-81D7-590C-3182288236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E7EBE5AE-DC84-3F91-E5D6-08C59352AA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descr="Cloudy oil paint art">
            <a:extLst>
              <a:ext uri="{FF2B5EF4-FFF2-40B4-BE49-F238E27FC236}">
                <a16:creationId xmlns:a16="http://schemas.microsoft.com/office/drawing/2014/main" id="{AC89C69E-5319-608F-F020-07086B6830FF}"/>
              </a:ext>
            </a:extLst>
          </p:cNvPr>
          <p:cNvPicPr>
            <a:picLocks noChangeAspect="1"/>
          </p:cNvPicPr>
          <p:nvPr/>
        </p:nvPicPr>
        <p:blipFill>
          <a:blip r:embed="rId3">
            <a:alphaModFix amt="40000"/>
          </a:blip>
          <a:srcRect t="15246" r="-1" b="462"/>
          <a:stretch/>
        </p:blipFill>
        <p:spPr>
          <a:xfrm>
            <a:off x="0" y="10"/>
            <a:ext cx="12188932" cy="6857990"/>
          </a:xfrm>
          <a:prstGeom prst="rect">
            <a:avLst/>
          </a:prstGeom>
        </p:spPr>
      </p:pic>
      <p:sp>
        <p:nvSpPr>
          <p:cNvPr id="2" name="Title 1">
            <a:extLst>
              <a:ext uri="{FF2B5EF4-FFF2-40B4-BE49-F238E27FC236}">
                <a16:creationId xmlns:a16="http://schemas.microsoft.com/office/drawing/2014/main" id="{60F99FA2-343E-F2A1-3626-8FE15F866E7E}"/>
              </a:ext>
            </a:extLst>
          </p:cNvPr>
          <p:cNvSpPr>
            <a:spLocks noGrp="1"/>
          </p:cNvSpPr>
          <p:nvPr>
            <p:ph type="ctrTitle"/>
          </p:nvPr>
        </p:nvSpPr>
        <p:spPr>
          <a:xfrm>
            <a:off x="241310" y="420392"/>
            <a:ext cx="11706352" cy="861997"/>
          </a:xfrm>
        </p:spPr>
        <p:txBody>
          <a:bodyPr anchor="t">
            <a:normAutofit/>
          </a:bodyPr>
          <a:lstStyle/>
          <a:p>
            <a:pPr algn="ctr"/>
            <a:r>
              <a:rPr lang="en-US" sz="4400" b="1" dirty="0">
                <a:solidFill>
                  <a:schemeClr val="bg1"/>
                </a:solidFill>
              </a:rPr>
              <a:t>CORRELATION ANALYSIS</a:t>
            </a:r>
          </a:p>
        </p:txBody>
      </p:sp>
      <p:cxnSp>
        <p:nvCxnSpPr>
          <p:cNvPr id="19" name="Straight Connector 18">
            <a:extLst>
              <a:ext uri="{FF2B5EF4-FFF2-40B4-BE49-F238E27FC236}">
                <a16:creationId xmlns:a16="http://schemas.microsoft.com/office/drawing/2014/main" id="{A386333F-1BD0-D611-6223-9C68110DD98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489855"/>
            <a:ext cx="11147071" cy="0"/>
          </a:xfrm>
          <a:prstGeom prst="line">
            <a:avLst/>
          </a:prstGeom>
          <a:ln w="28575">
            <a:solidFill>
              <a:srgbClr val="FFFFFF"/>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9D3DA2CF-5571-4CE8-C12B-42AAF2D7184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6368138"/>
            <a:ext cx="11147071" cy="0"/>
          </a:xfrm>
          <a:prstGeom prst="line">
            <a:avLst/>
          </a:prstGeom>
          <a:ln w="28575">
            <a:solidFill>
              <a:srgbClr val="FFFFFF"/>
            </a:solidFill>
          </a:ln>
        </p:spPr>
        <p:style>
          <a:lnRef idx="1">
            <a:schemeClr val="dk1"/>
          </a:lnRef>
          <a:fillRef idx="0">
            <a:schemeClr val="dk1"/>
          </a:fillRef>
          <a:effectRef idx="0">
            <a:schemeClr val="dk1"/>
          </a:effectRef>
          <a:fontRef idx="minor">
            <a:schemeClr val="tx1"/>
          </a:fontRef>
        </p:style>
      </p:cxnSp>
      <p:sp>
        <p:nvSpPr>
          <p:cNvPr id="20" name="TextBox 19">
            <a:extLst>
              <a:ext uri="{FF2B5EF4-FFF2-40B4-BE49-F238E27FC236}">
                <a16:creationId xmlns:a16="http://schemas.microsoft.com/office/drawing/2014/main" id="{348E2F1E-B8A5-0138-2BFD-3114D8556DE4}"/>
              </a:ext>
            </a:extLst>
          </p:cNvPr>
          <p:cNvSpPr txBox="1"/>
          <p:nvPr/>
        </p:nvSpPr>
        <p:spPr>
          <a:xfrm>
            <a:off x="6450110" y="1702771"/>
            <a:ext cx="5497552" cy="3970318"/>
          </a:xfrm>
          <a:prstGeom prst="rect">
            <a:avLst/>
          </a:prstGeom>
          <a:noFill/>
        </p:spPr>
        <p:txBody>
          <a:bodyPr wrap="square" rtlCol="0">
            <a:spAutoFit/>
          </a:bodyPr>
          <a:lstStyle/>
          <a:p>
            <a:pPr marL="285750" indent="-285750">
              <a:buFont typeface="Arial" panose="020B0604020202020204" pitchFamily="34" charset="0"/>
              <a:buChar char="•"/>
            </a:pPr>
            <a:r>
              <a:rPr lang="en-US" sz="2100" dirty="0">
                <a:solidFill>
                  <a:schemeClr val="bg2"/>
                </a:solidFill>
                <a:latin typeface="Times New Roman" panose="02020603050405020304" pitchFamily="18" charset="0"/>
                <a:cs typeface="Times New Roman" panose="02020603050405020304" pitchFamily="18" charset="0"/>
              </a:rPr>
              <a:t>This bar chart shows the correlation between three important factors — hashtag count, post timing, and content format — and the engagement </a:t>
            </a:r>
            <a:r>
              <a:rPr lang="en-US" sz="2100" dirty="0" err="1">
                <a:solidFill>
                  <a:schemeClr val="bg2"/>
                </a:solidFill>
                <a:latin typeface="Times New Roman" panose="02020603050405020304" pitchFamily="18" charset="0"/>
                <a:cs typeface="Times New Roman" panose="02020603050405020304" pitchFamily="18" charset="0"/>
              </a:rPr>
              <a:t>Xoxoday</a:t>
            </a:r>
            <a:r>
              <a:rPr lang="en-US" sz="2100" dirty="0">
                <a:solidFill>
                  <a:schemeClr val="bg2"/>
                </a:solidFill>
                <a:latin typeface="Times New Roman" panose="02020603050405020304" pitchFamily="18" charset="0"/>
                <a:cs typeface="Times New Roman" panose="02020603050405020304" pitchFamily="18" charset="0"/>
              </a:rPr>
              <a:t> receives on Twitter. Engagement includes likes, retweets, and replies</a:t>
            </a:r>
          </a:p>
          <a:p>
            <a:pPr marL="285750" indent="-285750">
              <a:buFont typeface="Arial" panose="020B0604020202020204" pitchFamily="34" charset="0"/>
              <a:buChar char="•"/>
            </a:pPr>
            <a:r>
              <a:rPr lang="en-US" sz="2100" dirty="0">
                <a:solidFill>
                  <a:schemeClr val="bg2"/>
                </a:solidFill>
                <a:latin typeface="Times New Roman" panose="02020603050405020304" pitchFamily="18" charset="0"/>
                <a:cs typeface="Times New Roman" panose="02020603050405020304" pitchFamily="18" charset="0"/>
              </a:rPr>
              <a:t>Correlation analysis helps </a:t>
            </a:r>
            <a:r>
              <a:rPr lang="en-US" sz="2100" dirty="0" err="1">
                <a:solidFill>
                  <a:schemeClr val="bg2"/>
                </a:solidFill>
                <a:latin typeface="Times New Roman" panose="02020603050405020304" pitchFamily="18" charset="0"/>
                <a:cs typeface="Times New Roman" panose="02020603050405020304" pitchFamily="18" charset="0"/>
              </a:rPr>
              <a:t>Xoxoday</a:t>
            </a:r>
            <a:r>
              <a:rPr lang="en-US" sz="2100" dirty="0">
                <a:solidFill>
                  <a:schemeClr val="bg2"/>
                </a:solidFill>
                <a:latin typeface="Times New Roman" panose="02020603050405020304" pitchFamily="18" charset="0"/>
                <a:cs typeface="Times New Roman" panose="02020603050405020304" pitchFamily="18" charset="0"/>
              </a:rPr>
              <a:t> understand which factors truly drive engagement. It shows that improving content quality and posting at the right time will have a much larger impact than simply adding more hashtags</a:t>
            </a:r>
          </a:p>
        </p:txBody>
      </p:sp>
      <p:pic>
        <p:nvPicPr>
          <p:cNvPr id="5" name="Picture 4">
            <a:extLst>
              <a:ext uri="{FF2B5EF4-FFF2-40B4-BE49-F238E27FC236}">
                <a16:creationId xmlns:a16="http://schemas.microsoft.com/office/drawing/2014/main" id="{8FEDD275-B08B-D742-7DB4-2ED71D6AAD3B}"/>
              </a:ext>
            </a:extLst>
          </p:cNvPr>
          <p:cNvPicPr>
            <a:picLocks noChangeAspect="1"/>
          </p:cNvPicPr>
          <p:nvPr/>
        </p:nvPicPr>
        <p:blipFill>
          <a:blip r:embed="rId4"/>
          <a:stretch>
            <a:fillRect/>
          </a:stretch>
        </p:blipFill>
        <p:spPr>
          <a:xfrm>
            <a:off x="642236" y="1282532"/>
            <a:ext cx="5687219" cy="4810796"/>
          </a:xfrm>
          <a:prstGeom prst="rect">
            <a:avLst/>
          </a:prstGeom>
        </p:spPr>
      </p:pic>
    </p:spTree>
    <p:extLst>
      <p:ext uri="{BB962C8B-B14F-4D97-AF65-F5344CB8AC3E}">
        <p14:creationId xmlns:p14="http://schemas.microsoft.com/office/powerpoint/2010/main" val="1479124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0358554-2149-9D20-363B-209AC4FE8854}"/>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BFDD578F-F2C1-23B7-2DD1-1ACD6A56CC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0E0FFE2-2989-A3DA-6A9B-1A71188A5E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descr="Cloudy oil paint art">
            <a:extLst>
              <a:ext uri="{FF2B5EF4-FFF2-40B4-BE49-F238E27FC236}">
                <a16:creationId xmlns:a16="http://schemas.microsoft.com/office/drawing/2014/main" id="{8AB82807-7195-B808-6C23-F5ECBD159442}"/>
              </a:ext>
            </a:extLst>
          </p:cNvPr>
          <p:cNvPicPr>
            <a:picLocks noChangeAspect="1"/>
          </p:cNvPicPr>
          <p:nvPr/>
        </p:nvPicPr>
        <p:blipFill>
          <a:blip r:embed="rId3">
            <a:alphaModFix amt="40000"/>
          </a:blip>
          <a:srcRect t="15246" r="-1" b="462"/>
          <a:stretch/>
        </p:blipFill>
        <p:spPr>
          <a:xfrm>
            <a:off x="0" y="10"/>
            <a:ext cx="12188932" cy="6857990"/>
          </a:xfrm>
          <a:prstGeom prst="rect">
            <a:avLst/>
          </a:prstGeom>
        </p:spPr>
      </p:pic>
      <p:sp>
        <p:nvSpPr>
          <p:cNvPr id="2" name="Title 1">
            <a:extLst>
              <a:ext uri="{FF2B5EF4-FFF2-40B4-BE49-F238E27FC236}">
                <a16:creationId xmlns:a16="http://schemas.microsoft.com/office/drawing/2014/main" id="{8211BDBF-A40B-7B3B-A2C0-59F259741A07}"/>
              </a:ext>
            </a:extLst>
          </p:cNvPr>
          <p:cNvSpPr>
            <a:spLocks noGrp="1"/>
          </p:cNvSpPr>
          <p:nvPr>
            <p:ph type="ctrTitle"/>
          </p:nvPr>
        </p:nvSpPr>
        <p:spPr>
          <a:xfrm>
            <a:off x="241310" y="420392"/>
            <a:ext cx="11706352" cy="861997"/>
          </a:xfrm>
        </p:spPr>
        <p:txBody>
          <a:bodyPr anchor="t">
            <a:normAutofit/>
          </a:bodyPr>
          <a:lstStyle/>
          <a:p>
            <a:pPr algn="ctr"/>
            <a:r>
              <a:rPr lang="en-US" sz="4400" b="1" dirty="0">
                <a:solidFill>
                  <a:schemeClr val="bg1"/>
                </a:solidFill>
              </a:rPr>
              <a:t>CLUSTER ANALYSIS</a:t>
            </a:r>
          </a:p>
        </p:txBody>
      </p:sp>
      <p:cxnSp>
        <p:nvCxnSpPr>
          <p:cNvPr id="19" name="Straight Connector 18">
            <a:extLst>
              <a:ext uri="{FF2B5EF4-FFF2-40B4-BE49-F238E27FC236}">
                <a16:creationId xmlns:a16="http://schemas.microsoft.com/office/drawing/2014/main" id="{04A8D179-F82C-C295-8AC5-DE2BA26D2B2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489855"/>
            <a:ext cx="11147071" cy="0"/>
          </a:xfrm>
          <a:prstGeom prst="line">
            <a:avLst/>
          </a:prstGeom>
          <a:ln w="28575">
            <a:solidFill>
              <a:srgbClr val="FFFFFF"/>
            </a:solidFill>
          </a:ln>
        </p:spPr>
        <p:style>
          <a:lnRef idx="1">
            <a:schemeClr val="dk1"/>
          </a:lnRef>
          <a:fillRef idx="0">
            <a:schemeClr val="dk1"/>
          </a:fillRef>
          <a:effectRef idx="0">
            <a:schemeClr val="dk1"/>
          </a:effectRef>
          <a:fontRef idx="minor">
            <a:schemeClr val="tx1"/>
          </a:fontRef>
        </p:style>
      </p:cxnSp>
      <p:cxnSp>
        <p:nvCxnSpPr>
          <p:cNvPr id="15" name="Straight Connector 14">
            <a:extLst>
              <a:ext uri="{FF2B5EF4-FFF2-40B4-BE49-F238E27FC236}">
                <a16:creationId xmlns:a16="http://schemas.microsoft.com/office/drawing/2014/main" id="{B7B55284-8D98-F9FC-C58D-4432E285CF0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6368138"/>
            <a:ext cx="11147071" cy="0"/>
          </a:xfrm>
          <a:prstGeom prst="line">
            <a:avLst/>
          </a:prstGeom>
          <a:ln w="28575">
            <a:solidFill>
              <a:srgbClr val="FFFFFF"/>
            </a:solidFill>
          </a:ln>
        </p:spPr>
        <p:style>
          <a:lnRef idx="1">
            <a:schemeClr val="dk1"/>
          </a:lnRef>
          <a:fillRef idx="0">
            <a:schemeClr val="dk1"/>
          </a:fillRef>
          <a:effectRef idx="0">
            <a:schemeClr val="dk1"/>
          </a:effectRef>
          <a:fontRef idx="minor">
            <a:schemeClr val="tx1"/>
          </a:fontRef>
        </p:style>
      </p:cxnSp>
      <p:sp>
        <p:nvSpPr>
          <p:cNvPr id="5" name="TextBox 4">
            <a:extLst>
              <a:ext uri="{FF2B5EF4-FFF2-40B4-BE49-F238E27FC236}">
                <a16:creationId xmlns:a16="http://schemas.microsoft.com/office/drawing/2014/main" id="{407F7205-65D7-4CC0-E748-D76D58CAE96C}"/>
              </a:ext>
            </a:extLst>
          </p:cNvPr>
          <p:cNvSpPr txBox="1"/>
          <p:nvPr/>
        </p:nvSpPr>
        <p:spPr>
          <a:xfrm>
            <a:off x="7050669" y="1531730"/>
            <a:ext cx="4516862" cy="4601260"/>
          </a:xfrm>
          <a:prstGeom prst="rect">
            <a:avLst/>
          </a:prstGeom>
          <a:noFill/>
        </p:spPr>
        <p:txBody>
          <a:bodyPr wrap="square" rtlCol="0">
            <a:spAutoFit/>
          </a:bodyPr>
          <a:lstStyle/>
          <a:p>
            <a:pPr marL="342900" indent="-342900">
              <a:buFont typeface="Arial" panose="020B0604020202020204" pitchFamily="34" charset="0"/>
              <a:buChar char="•"/>
            </a:pPr>
            <a:r>
              <a:rPr lang="en-US" sz="2100" dirty="0">
                <a:solidFill>
                  <a:schemeClr val="bg2"/>
                </a:solidFill>
                <a:latin typeface="Times New Roman" panose="02020603050405020304" pitchFamily="18" charset="0"/>
                <a:cs typeface="Times New Roman" panose="02020603050405020304" pitchFamily="18" charset="0"/>
              </a:rPr>
              <a:t>Each point represents a tweet, and the tweets are grouped into three clusters based on two dimensions: engagement intensity and content style.</a:t>
            </a:r>
          </a:p>
          <a:p>
            <a:pPr marL="342900" indent="-342900">
              <a:buFont typeface="Arial" panose="020B0604020202020204" pitchFamily="34" charset="0"/>
              <a:buChar char="•"/>
            </a:pPr>
            <a:r>
              <a:rPr lang="en-US" sz="2100" dirty="0">
                <a:solidFill>
                  <a:schemeClr val="bg2"/>
                </a:solidFill>
                <a:latin typeface="Times New Roman" panose="02020603050405020304" pitchFamily="18" charset="0"/>
                <a:cs typeface="Times New Roman" panose="02020603050405020304" pitchFamily="18" charset="0"/>
              </a:rPr>
              <a:t>The highest engagement comes from visually appealing and well-timed posts, whereas plain text or low-effort posts perform poorly. These insights help </a:t>
            </a:r>
            <a:r>
              <a:rPr lang="en-US" sz="2100" dirty="0" err="1">
                <a:solidFill>
                  <a:schemeClr val="bg2"/>
                </a:solidFill>
                <a:latin typeface="Times New Roman" panose="02020603050405020304" pitchFamily="18" charset="0"/>
                <a:cs typeface="Times New Roman" panose="02020603050405020304" pitchFamily="18" charset="0"/>
              </a:rPr>
              <a:t>Xoxoday</a:t>
            </a:r>
            <a:r>
              <a:rPr lang="en-US" sz="2100" dirty="0">
                <a:solidFill>
                  <a:schemeClr val="bg2"/>
                </a:solidFill>
                <a:latin typeface="Times New Roman" panose="02020603050405020304" pitchFamily="18" charset="0"/>
                <a:cs typeface="Times New Roman" panose="02020603050405020304" pitchFamily="18" charset="0"/>
              </a:rPr>
              <a:t> refine its content strategy by focusing on the formats and posting patterns that generate the most engagement.”</a:t>
            </a:r>
            <a:endParaRPr lang="en-US" sz="2100" b="1" dirty="0">
              <a:solidFill>
                <a:schemeClr val="bg2"/>
              </a:solidFill>
              <a:latin typeface="Times New Roman" panose="02020603050405020304" pitchFamily="18" charset="0"/>
              <a:cs typeface="Times New Roman" panose="02020603050405020304" pitchFamily="18" charset="0"/>
            </a:endParaRPr>
          </a:p>
          <a:p>
            <a:endParaRPr lang="en-US" sz="2000" b="1" dirty="0">
              <a:solidFill>
                <a:srgbClr val="FF0000"/>
              </a:solidFill>
              <a:latin typeface="Segoe UI" panose="020B0502040204020203" pitchFamily="34" charset="0"/>
              <a:cs typeface="Segoe UI" panose="020B0502040204020203" pitchFamily="34" charset="0"/>
            </a:endParaRPr>
          </a:p>
        </p:txBody>
      </p:sp>
      <p:pic>
        <p:nvPicPr>
          <p:cNvPr id="4" name="Picture 3">
            <a:extLst>
              <a:ext uri="{FF2B5EF4-FFF2-40B4-BE49-F238E27FC236}">
                <a16:creationId xmlns:a16="http://schemas.microsoft.com/office/drawing/2014/main" id="{FDA30B75-9AC1-9FA2-117C-2D57C75A0B50}"/>
              </a:ext>
            </a:extLst>
          </p:cNvPr>
          <p:cNvPicPr>
            <a:picLocks noChangeAspect="1"/>
          </p:cNvPicPr>
          <p:nvPr/>
        </p:nvPicPr>
        <p:blipFill>
          <a:blip r:embed="rId4"/>
          <a:stretch>
            <a:fillRect/>
          </a:stretch>
        </p:blipFill>
        <p:spPr>
          <a:xfrm>
            <a:off x="460829" y="1517537"/>
            <a:ext cx="6496957" cy="4448796"/>
          </a:xfrm>
          <a:prstGeom prst="rect">
            <a:avLst/>
          </a:prstGeom>
        </p:spPr>
      </p:pic>
    </p:spTree>
    <p:extLst>
      <p:ext uri="{BB962C8B-B14F-4D97-AF65-F5344CB8AC3E}">
        <p14:creationId xmlns:p14="http://schemas.microsoft.com/office/powerpoint/2010/main" val="11685728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5D2A705-CFE7-6955-E2E1-F83D7F90AF5C}"/>
            </a:ext>
          </a:extLst>
        </p:cNvPr>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F031EE8B-791B-FE13-45A3-2DB1A0B9F4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1" name="Straight Connector 40">
            <a:extLst>
              <a:ext uri="{FF2B5EF4-FFF2-40B4-BE49-F238E27FC236}">
                <a16:creationId xmlns:a16="http://schemas.microsoft.com/office/drawing/2014/main" id="{03201552-6E72-5439-EF99-5D226A6FB99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489855"/>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pic>
        <p:nvPicPr>
          <p:cNvPr id="18" name="Picture 17" descr="Cloudy oil paint art">
            <a:extLst>
              <a:ext uri="{FF2B5EF4-FFF2-40B4-BE49-F238E27FC236}">
                <a16:creationId xmlns:a16="http://schemas.microsoft.com/office/drawing/2014/main" id="{68FCCA87-7959-B760-B370-7F25CFC001AB}"/>
              </a:ext>
            </a:extLst>
          </p:cNvPr>
          <p:cNvPicPr>
            <a:picLocks noChangeAspect="1"/>
          </p:cNvPicPr>
          <p:nvPr/>
        </p:nvPicPr>
        <p:blipFill>
          <a:blip r:embed="rId2">
            <a:alphaModFix amt="35000"/>
          </a:blip>
          <a:srcRect r="35368" b="-3"/>
          <a:stretch/>
        </p:blipFill>
        <p:spPr>
          <a:xfrm>
            <a:off x="0" y="-12641"/>
            <a:ext cx="12192000" cy="6858000"/>
          </a:xfrm>
          <a:prstGeom prst="rect">
            <a:avLst/>
          </a:prstGeom>
        </p:spPr>
      </p:pic>
      <p:cxnSp>
        <p:nvCxnSpPr>
          <p:cNvPr id="43" name="Straight Connector 42">
            <a:extLst>
              <a:ext uri="{FF2B5EF4-FFF2-40B4-BE49-F238E27FC236}">
                <a16:creationId xmlns:a16="http://schemas.microsoft.com/office/drawing/2014/main" id="{CB6D3D1F-8EF2-8C26-245C-7271FB4179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82600" y="6368138"/>
            <a:ext cx="11147071" cy="0"/>
          </a:xfrm>
          <a:prstGeom prst="line">
            <a:avLst/>
          </a:prstGeom>
          <a:ln w="28575">
            <a:solidFill>
              <a:schemeClr val="tx2"/>
            </a:solidFill>
          </a:ln>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a16="http://schemas.microsoft.com/office/drawing/2014/main" id="{E62926BF-BACC-960F-5486-4335520A75FF}"/>
              </a:ext>
            </a:extLst>
          </p:cNvPr>
          <p:cNvSpPr txBox="1"/>
          <p:nvPr/>
        </p:nvSpPr>
        <p:spPr>
          <a:xfrm>
            <a:off x="482599" y="610379"/>
            <a:ext cx="11147071" cy="1754326"/>
          </a:xfrm>
          <a:prstGeom prst="rect">
            <a:avLst/>
          </a:prstGeom>
          <a:noFill/>
        </p:spPr>
        <p:txBody>
          <a:bodyPr wrap="square" rtlCol="0">
            <a:spAutoFit/>
          </a:bodyPr>
          <a:lstStyle/>
          <a:p>
            <a:pPr algn="ctr"/>
            <a:r>
              <a:rPr lang="en-US" sz="3600" b="1" dirty="0"/>
              <a:t>CONCLUSION</a:t>
            </a:r>
          </a:p>
          <a:p>
            <a:pPr algn="ctr"/>
            <a:endParaRPr lang="en-US" sz="3600" b="1" dirty="0"/>
          </a:p>
          <a:p>
            <a:endParaRPr lang="en-US" sz="3600" b="1" dirty="0"/>
          </a:p>
        </p:txBody>
      </p:sp>
      <p:sp>
        <p:nvSpPr>
          <p:cNvPr id="3" name="TextBox 2">
            <a:extLst>
              <a:ext uri="{FF2B5EF4-FFF2-40B4-BE49-F238E27FC236}">
                <a16:creationId xmlns:a16="http://schemas.microsoft.com/office/drawing/2014/main" id="{0FF3F59C-B07F-94EC-759C-18C02F87E89E}"/>
              </a:ext>
            </a:extLst>
          </p:cNvPr>
          <p:cNvSpPr txBox="1"/>
          <p:nvPr/>
        </p:nvSpPr>
        <p:spPr>
          <a:xfrm>
            <a:off x="482599" y="2296708"/>
            <a:ext cx="11147070" cy="2677656"/>
          </a:xfrm>
          <a:prstGeom prst="rect">
            <a:avLst/>
          </a:prstGeom>
          <a:noFill/>
        </p:spPr>
        <p:txBody>
          <a:bodyPr wrap="square" rtlCol="0">
            <a:spAutoFit/>
          </a:bodyPr>
          <a:lstStyle/>
          <a:p>
            <a:r>
              <a:rPr lang="en-US" sz="2400" dirty="0">
                <a:latin typeface="Times New Roman" panose="02020603050405020304" pitchFamily="18" charset="0"/>
                <a:cs typeface="Times New Roman" panose="02020603050405020304" pitchFamily="18" charset="0"/>
              </a:rPr>
              <a:t>"</a:t>
            </a:r>
            <a:r>
              <a:rPr lang="en-US" sz="2400" dirty="0"/>
              <a:t>The analysis of </a:t>
            </a:r>
            <a:r>
              <a:rPr lang="en-US" sz="2400" dirty="0" err="1"/>
              <a:t>Xoxoday’s</a:t>
            </a:r>
            <a:r>
              <a:rPr lang="en-US" sz="2400" dirty="0"/>
              <a:t> Twitter activity provides meaningful insights into how the company can enhance customer engagement and improve the effectiveness of its social media strategy. Descriptive analytics revealed that while </a:t>
            </a:r>
            <a:r>
              <a:rPr lang="en-US" sz="2400" dirty="0" err="1"/>
              <a:t>Xoxoday</a:t>
            </a:r>
            <a:r>
              <a:rPr lang="en-US" sz="2400" dirty="0"/>
              <a:t> consistently receives likes, retweets, and replies, engagement varies significantly based on posting time and content type. Correlation analysis further highlighted that content format and post timing are the strongest drivers of engagement, whereas hashtags offer only a moderate lift.</a:t>
            </a:r>
            <a:r>
              <a:rPr lang="en-US"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014845988"/>
      </p:ext>
    </p:extLst>
  </p:cSld>
  <p:clrMapOvr>
    <a:masterClrMapping/>
  </p:clrMapOvr>
</p:sld>
</file>

<file path=ppt/theme/theme1.xml><?xml version="1.0" encoding="utf-8"?>
<a:theme xmlns:a="http://schemas.openxmlformats.org/drawingml/2006/main" name="LevelVTI">
  <a:themeElements>
    <a:clrScheme name="AnalogousFromDarkSeedLeftStep">
      <a:dk1>
        <a:srgbClr val="000000"/>
      </a:dk1>
      <a:lt1>
        <a:srgbClr val="FFFFFF"/>
      </a:lt1>
      <a:dk2>
        <a:srgbClr val="1C2432"/>
      </a:dk2>
      <a:lt2>
        <a:srgbClr val="F2F3F0"/>
      </a:lt2>
      <a:accent1>
        <a:srgbClr val="844BC5"/>
      </a:accent1>
      <a:accent2>
        <a:srgbClr val="4842B7"/>
      </a:accent2>
      <a:accent3>
        <a:srgbClr val="4B78C5"/>
      </a:accent3>
      <a:accent4>
        <a:srgbClr val="3999B3"/>
      </a:accent4>
      <a:accent5>
        <a:srgbClr val="49C0A8"/>
      </a:accent5>
      <a:accent6>
        <a:srgbClr val="39B368"/>
      </a:accent6>
      <a:hlink>
        <a:srgbClr val="339A97"/>
      </a:hlink>
      <a:folHlink>
        <a:srgbClr val="7F7F7F"/>
      </a:folHlink>
    </a:clrScheme>
    <a:fontScheme name="Seaford">
      <a:majorFont>
        <a:latin typeface="Seaford"/>
        <a:ea typeface=""/>
        <a:cs typeface=""/>
      </a:majorFont>
      <a:minorFont>
        <a:latin typeface="Seafor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evelVTI" id="{64F43929-0387-4D33-907F-72B939BCAF99}" vid="{D804DF84-3298-4A39-BA0E-21F83D68BC2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16639</TotalTime>
  <Words>946</Words>
  <Application>Microsoft Office PowerPoint</Application>
  <PresentationFormat>Widescreen</PresentationFormat>
  <Paragraphs>77</Paragraphs>
  <Slides>12</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Arial</vt:lpstr>
      <vt:lpstr>Seaford</vt:lpstr>
      <vt:lpstr>Segoe UI</vt:lpstr>
      <vt:lpstr>Times New Roman</vt:lpstr>
      <vt:lpstr>LevelVTI</vt:lpstr>
      <vt:lpstr>Business Idea: Xoxoday.com: Customer Engagement through Social Media</vt:lpstr>
      <vt:lpstr>PowerPoint Presentation</vt:lpstr>
      <vt:lpstr>PowerPoint Presentation</vt:lpstr>
      <vt:lpstr>PowerPoint Presentation</vt:lpstr>
      <vt:lpstr>PowerPoint Presentation</vt:lpstr>
      <vt:lpstr>DATA VISUALIZATION</vt:lpstr>
      <vt:lpstr>DATA VISUALIZATION</vt:lpstr>
      <vt:lpstr>PowerPoint Presentation</vt:lpstr>
      <vt:lpstr>DESCRIPTIVE ANALYSIS</vt:lpstr>
      <vt:lpstr>CORRELATION ANALYSIS</vt:lpstr>
      <vt:lpstr>CLUSTER ANALYSIS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Supraja Guptha Damera</dc:creator>
  <cp:lastModifiedBy>Supraja Guptha Damera</cp:lastModifiedBy>
  <cp:revision>13</cp:revision>
  <dcterms:created xsi:type="dcterms:W3CDTF">2024-11-27T21:24:03Z</dcterms:created>
  <dcterms:modified xsi:type="dcterms:W3CDTF">2025-12-14T03:12:58Z</dcterms:modified>
</cp:coreProperties>
</file>